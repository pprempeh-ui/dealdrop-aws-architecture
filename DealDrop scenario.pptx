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Lst>
  <p:sldSz cx="18288000" cy="10287000"/>
  <p:notesSz cx="6858000" cy="9144000"/>
  <p:embeddedFontLst>
    <p:embeddedFont>
      <p:font typeface="Arimo" panose="020B0604020202020204" charset="0"/>
      <p:regular r:id="rId11"/>
    </p:embeddedFont>
    <p:embeddedFont>
      <p:font typeface="Arimo Bold" panose="020B0604020202020204" charset="0"/>
      <p:regular r:id="rId12"/>
    </p:embeddedFont>
    <p:embeddedFont>
      <p:font typeface="Helvetica" panose="020B0604020202020204" pitchFamily="34" charset="0"/>
      <p:regular r:id="rId13"/>
      <p:bold r:id="rId14"/>
      <p:italic r:id="rId15"/>
      <p:boldItalic r:id="rId16"/>
    </p:embeddedFont>
    <p:embeddedFont>
      <p:font typeface="Helvetica Bold Italics" panose="020B0604020202020204" charset="0"/>
      <p:regular r:id="rId17"/>
    </p:embeddedFont>
    <p:embeddedFont>
      <p:font typeface="Montserrat" panose="00000500000000000000" pitchFamily="2" charset="0"/>
      <p:regular r:id="rId18"/>
    </p:embeddedFont>
    <p:embeddedFont>
      <p:font typeface="Montserrat Bold" panose="020B0604020202020204" charset="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p:scale>
          <a:sx n="50" d="100"/>
          <a:sy n="50" d="100"/>
        </p:scale>
        <p:origin x="300" y="-30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18" Type="http://schemas.openxmlformats.org/officeDocument/2006/relationships/font" Target="fonts/font8.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font" Target="fonts/font7.fntdata"/><Relationship Id="rId2" Type="http://schemas.openxmlformats.org/officeDocument/2006/relationships/slide" Target="slides/slide1.xml"/><Relationship Id="rId16" Type="http://schemas.openxmlformats.org/officeDocument/2006/relationships/font" Target="fonts/font6.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font" Target="fonts/font5.fntdata"/><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2/18/2026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sv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png"/><Relationship Id="rId1" Type="http://schemas.openxmlformats.org/officeDocument/2006/relationships/slideLayout" Target="../slideLayouts/slideLayout7.xml"/><Relationship Id="rId5" Type="http://schemas.openxmlformats.org/officeDocument/2006/relationships/image" Target="../media/image10.sv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Freeform 2"/>
          <p:cNvSpPr/>
          <p:nvPr/>
        </p:nvSpPr>
        <p:spPr>
          <a:xfrm>
            <a:off x="8211734" y="4006602"/>
            <a:ext cx="12058365" cy="12560797"/>
          </a:xfrm>
          <a:custGeom>
            <a:avLst/>
            <a:gdLst/>
            <a:ahLst/>
            <a:cxnLst/>
            <a:rect l="l" t="t" r="r" b="b"/>
            <a:pathLst>
              <a:path w="12058365" h="12560797">
                <a:moveTo>
                  <a:pt x="0" y="0"/>
                </a:moveTo>
                <a:lnTo>
                  <a:pt x="12058365" y="0"/>
                </a:lnTo>
                <a:lnTo>
                  <a:pt x="12058365" y="12560796"/>
                </a:lnTo>
                <a:lnTo>
                  <a:pt x="0" y="12560796"/>
                </a:lnTo>
                <a:lnTo>
                  <a:pt x="0" y="0"/>
                </a:lnTo>
                <a:close/>
              </a:path>
            </a:pathLst>
          </a:custGeom>
          <a:blipFill>
            <a:blip r:embed="rId2"/>
            <a:stretch>
              <a:fillRect/>
            </a:stretch>
          </a:blipFill>
        </p:spPr>
        <p:txBody>
          <a:bodyPr/>
          <a:lstStyle/>
          <a:p>
            <a:endParaRPr lang="en-US"/>
          </a:p>
        </p:txBody>
      </p:sp>
      <p:sp>
        <p:nvSpPr>
          <p:cNvPr id="3" name="Freeform 3"/>
          <p:cNvSpPr/>
          <p:nvPr/>
        </p:nvSpPr>
        <p:spPr>
          <a:xfrm flipH="1">
            <a:off x="-1982099" y="4006602"/>
            <a:ext cx="12058365" cy="12560797"/>
          </a:xfrm>
          <a:custGeom>
            <a:avLst/>
            <a:gdLst/>
            <a:ahLst/>
            <a:cxnLst/>
            <a:rect l="l" t="t" r="r" b="b"/>
            <a:pathLst>
              <a:path w="12058365" h="12560797">
                <a:moveTo>
                  <a:pt x="12058365" y="0"/>
                </a:moveTo>
                <a:lnTo>
                  <a:pt x="0" y="0"/>
                </a:lnTo>
                <a:lnTo>
                  <a:pt x="0" y="12560796"/>
                </a:lnTo>
                <a:lnTo>
                  <a:pt x="12058365" y="12560796"/>
                </a:lnTo>
                <a:lnTo>
                  <a:pt x="12058365" y="0"/>
                </a:lnTo>
                <a:close/>
              </a:path>
            </a:pathLst>
          </a:custGeom>
          <a:blipFill>
            <a:blip r:embed="rId2"/>
            <a:stretch>
              <a:fillRect/>
            </a:stretch>
          </a:blipFill>
        </p:spPr>
        <p:txBody>
          <a:bodyPr/>
          <a:lstStyle/>
          <a:p>
            <a:endParaRPr lang="en-US"/>
          </a:p>
        </p:txBody>
      </p:sp>
      <p:sp>
        <p:nvSpPr>
          <p:cNvPr id="4" name="TextBox 4"/>
          <p:cNvSpPr txBox="1"/>
          <p:nvPr/>
        </p:nvSpPr>
        <p:spPr>
          <a:xfrm>
            <a:off x="1028700" y="3137522"/>
            <a:ext cx="16230600" cy="3657600"/>
          </a:xfrm>
          <a:prstGeom prst="rect">
            <a:avLst/>
          </a:prstGeom>
        </p:spPr>
        <p:txBody>
          <a:bodyPr lIns="0" tIns="0" rIns="0" bIns="0" rtlCol="0" anchor="t">
            <a:spAutoFit/>
          </a:bodyPr>
          <a:lstStyle/>
          <a:p>
            <a:pPr algn="ctr">
              <a:lnSpc>
                <a:spcPts val="14400"/>
              </a:lnSpc>
            </a:pPr>
            <a:r>
              <a:rPr lang="en-US" sz="12000" b="1">
                <a:solidFill>
                  <a:srgbClr val="FFFFFF"/>
                </a:solidFill>
                <a:latin typeface="Montserrat Bold"/>
                <a:ea typeface="Montserrat Bold"/>
                <a:cs typeface="Montserrat Bold"/>
                <a:sym typeface="Montserrat Bold"/>
              </a:rPr>
              <a:t>DealDrop</a:t>
            </a:r>
          </a:p>
          <a:p>
            <a:pPr algn="ctr">
              <a:lnSpc>
                <a:spcPts val="14400"/>
              </a:lnSpc>
            </a:pPr>
            <a:r>
              <a:rPr lang="en-US" sz="12000" b="1">
                <a:solidFill>
                  <a:srgbClr val="FFFFFF"/>
                </a:solidFill>
                <a:latin typeface="Montserrat Bold"/>
                <a:ea typeface="Montserrat Bold"/>
                <a:cs typeface="Montserrat Bold"/>
                <a:sym typeface="Montserrat Bold"/>
              </a:rPr>
              <a:t>Scenario</a:t>
            </a:r>
          </a:p>
        </p:txBody>
      </p:sp>
      <p:grpSp>
        <p:nvGrpSpPr>
          <p:cNvPr id="5" name="Group 5"/>
          <p:cNvGrpSpPr/>
          <p:nvPr/>
        </p:nvGrpSpPr>
        <p:grpSpPr>
          <a:xfrm>
            <a:off x="-1982099" y="-8963087"/>
            <a:ext cx="22252197" cy="12560797"/>
            <a:chOff x="0" y="0"/>
            <a:chExt cx="29669596" cy="16747729"/>
          </a:xfrm>
        </p:grpSpPr>
        <p:sp>
          <p:nvSpPr>
            <p:cNvPr id="6" name="Freeform 6"/>
            <p:cNvSpPr/>
            <p:nvPr/>
          </p:nvSpPr>
          <p:spPr>
            <a:xfrm>
              <a:off x="13591777" y="0"/>
              <a:ext cx="16077820" cy="16747729"/>
            </a:xfrm>
            <a:custGeom>
              <a:avLst/>
              <a:gdLst/>
              <a:ahLst/>
              <a:cxnLst/>
              <a:rect l="l" t="t" r="r" b="b"/>
              <a:pathLst>
                <a:path w="16077820" h="16747729">
                  <a:moveTo>
                    <a:pt x="0" y="0"/>
                  </a:moveTo>
                  <a:lnTo>
                    <a:pt x="16077819" y="0"/>
                  </a:lnTo>
                  <a:lnTo>
                    <a:pt x="16077819" y="16747729"/>
                  </a:lnTo>
                  <a:lnTo>
                    <a:pt x="0" y="16747729"/>
                  </a:lnTo>
                  <a:lnTo>
                    <a:pt x="0" y="0"/>
                  </a:lnTo>
                  <a:close/>
                </a:path>
              </a:pathLst>
            </a:custGeom>
            <a:blipFill>
              <a:blip r:embed="rId2"/>
              <a:stretch>
                <a:fillRect/>
              </a:stretch>
            </a:blipFill>
          </p:spPr>
          <p:txBody>
            <a:bodyPr/>
            <a:lstStyle/>
            <a:p>
              <a:endParaRPr lang="en-US"/>
            </a:p>
          </p:txBody>
        </p:sp>
        <p:sp>
          <p:nvSpPr>
            <p:cNvPr id="7" name="Freeform 7"/>
            <p:cNvSpPr/>
            <p:nvPr/>
          </p:nvSpPr>
          <p:spPr>
            <a:xfrm flipH="1">
              <a:off x="0" y="0"/>
              <a:ext cx="16077820" cy="16747729"/>
            </a:xfrm>
            <a:custGeom>
              <a:avLst/>
              <a:gdLst/>
              <a:ahLst/>
              <a:cxnLst/>
              <a:rect l="l" t="t" r="r" b="b"/>
              <a:pathLst>
                <a:path w="16077820" h="16747729">
                  <a:moveTo>
                    <a:pt x="16077820" y="0"/>
                  </a:moveTo>
                  <a:lnTo>
                    <a:pt x="0" y="0"/>
                  </a:lnTo>
                  <a:lnTo>
                    <a:pt x="0" y="16747729"/>
                  </a:lnTo>
                  <a:lnTo>
                    <a:pt x="16077820" y="16747729"/>
                  </a:lnTo>
                  <a:lnTo>
                    <a:pt x="16077820" y="0"/>
                  </a:lnTo>
                  <a:close/>
                </a:path>
              </a:pathLst>
            </a:custGeom>
            <a:blipFill>
              <a:blip r:embed="rId2"/>
              <a:stretch>
                <a:fillRect/>
              </a:stretch>
            </a:blipFill>
          </p:spPr>
          <p:txBody>
            <a:bodyPr/>
            <a:lstStyle/>
            <a:p>
              <a:endParaRPr lang="en-US"/>
            </a:p>
          </p:txBody>
        </p:sp>
      </p:grpSp>
      <p:sp>
        <p:nvSpPr>
          <p:cNvPr id="8" name="TextBox 7">
            <a:extLst>
              <a:ext uri="{FF2B5EF4-FFF2-40B4-BE49-F238E27FC236}">
                <a16:creationId xmlns:a16="http://schemas.microsoft.com/office/drawing/2014/main" id="{75294025-C46B-EC68-2259-41475410B55D}"/>
              </a:ext>
            </a:extLst>
          </p:cNvPr>
          <p:cNvSpPr txBox="1"/>
          <p:nvPr/>
        </p:nvSpPr>
        <p:spPr>
          <a:xfrm>
            <a:off x="4419600" y="6972300"/>
            <a:ext cx="8229600" cy="2862322"/>
          </a:xfrm>
          <a:prstGeom prst="rect">
            <a:avLst/>
          </a:prstGeom>
          <a:noFill/>
        </p:spPr>
        <p:txBody>
          <a:bodyPr wrap="square" rtlCol="0">
            <a:spAutoFit/>
          </a:bodyPr>
          <a:lstStyle/>
          <a:p>
            <a:r>
              <a:rPr lang="en-US" sz="3600" dirty="0">
                <a:solidFill>
                  <a:schemeClr val="bg1"/>
                </a:solidFill>
                <a:latin typeface="Times New Roman" panose="02020603050405020304" pitchFamily="18" charset="0"/>
                <a:cs typeface="Times New Roman" panose="02020603050405020304" pitchFamily="18" charset="0"/>
              </a:rPr>
              <a:t>PJ Adjei-Prempeh</a:t>
            </a:r>
          </a:p>
          <a:p>
            <a:r>
              <a:rPr lang="en-US" sz="3600" dirty="0">
                <a:solidFill>
                  <a:schemeClr val="bg1"/>
                </a:solidFill>
                <a:latin typeface="Times New Roman" panose="02020603050405020304" pitchFamily="18" charset="0"/>
                <a:cs typeface="Times New Roman" panose="02020603050405020304" pitchFamily="18" charset="0"/>
              </a:rPr>
              <a:t>Mervyn Jean-Baptiste</a:t>
            </a:r>
          </a:p>
          <a:p>
            <a:r>
              <a:rPr lang="en-US" sz="3600" dirty="0">
                <a:solidFill>
                  <a:schemeClr val="bg1"/>
                </a:solidFill>
                <a:latin typeface="Times New Roman" panose="02020603050405020304" pitchFamily="18" charset="0"/>
                <a:cs typeface="Times New Roman" panose="02020603050405020304" pitchFamily="18" charset="0"/>
              </a:rPr>
              <a:t>Stanley Dubois</a:t>
            </a:r>
          </a:p>
          <a:p>
            <a:r>
              <a:rPr lang="en-US" sz="3600" dirty="0">
                <a:solidFill>
                  <a:schemeClr val="bg1"/>
                </a:solidFill>
                <a:latin typeface="Times New Roman" panose="02020603050405020304" pitchFamily="18" charset="0"/>
                <a:cs typeface="Times New Roman" panose="02020603050405020304" pitchFamily="18" charset="0"/>
              </a:rPr>
              <a:t>Alexander</a:t>
            </a:r>
          </a:p>
          <a:p>
            <a:r>
              <a:rPr lang="en-US" sz="3600" dirty="0">
                <a:solidFill>
                  <a:schemeClr val="bg1"/>
                </a:solidFill>
                <a:latin typeface="Times New Roman" panose="02020603050405020304" pitchFamily="18" charset="0"/>
                <a:cs typeface="Times New Roman" panose="02020603050405020304" pitchFamily="18" charset="0"/>
              </a:rPr>
              <a:t>Zahid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410" r="-410"/>
            </a:stretch>
          </a:blipFill>
        </p:spPr>
        <p:txBody>
          <a:bodyPr/>
          <a:lstStyle/>
          <a:p>
            <a:endParaRPr lang="en-US"/>
          </a:p>
        </p:txBody>
      </p:sp>
      <p:sp>
        <p:nvSpPr>
          <p:cNvPr id="3" name="Freeform 3"/>
          <p:cNvSpPr/>
          <p:nvPr/>
        </p:nvSpPr>
        <p:spPr>
          <a:xfrm>
            <a:off x="-411892" y="4502396"/>
            <a:ext cx="20709924" cy="8229600"/>
          </a:xfrm>
          <a:custGeom>
            <a:avLst/>
            <a:gdLst/>
            <a:ahLst/>
            <a:cxnLst/>
            <a:rect l="l" t="t" r="r" b="b"/>
            <a:pathLst>
              <a:path w="20709924" h="8229600">
                <a:moveTo>
                  <a:pt x="0" y="0"/>
                </a:moveTo>
                <a:lnTo>
                  <a:pt x="20709924" y="0"/>
                </a:lnTo>
                <a:lnTo>
                  <a:pt x="20709924" y="8229600"/>
                </a:lnTo>
                <a:lnTo>
                  <a:pt x="0" y="8229600"/>
                </a:lnTo>
                <a:lnTo>
                  <a:pt x="0" y="0"/>
                </a:lnTo>
                <a:close/>
              </a:path>
            </a:pathLst>
          </a:custGeom>
          <a:blipFill>
            <a:blip r:embed="rId3"/>
            <a:stretch>
              <a:fillRect t="-20777" b="-20777"/>
            </a:stretch>
          </a:blipFill>
        </p:spPr>
        <p:txBody>
          <a:bodyPr/>
          <a:lstStyle/>
          <a:p>
            <a:endParaRPr lang="en-US"/>
          </a:p>
        </p:txBody>
      </p:sp>
      <p:sp>
        <p:nvSpPr>
          <p:cNvPr id="4" name="Freeform 4"/>
          <p:cNvSpPr/>
          <p:nvPr/>
        </p:nvSpPr>
        <p:spPr>
          <a:xfrm>
            <a:off x="12834784" y="5143500"/>
            <a:ext cx="4424516" cy="4114800"/>
          </a:xfrm>
          <a:custGeom>
            <a:avLst/>
            <a:gdLst/>
            <a:ahLst/>
            <a:cxnLst/>
            <a:rect l="l" t="t" r="r" b="b"/>
            <a:pathLst>
              <a:path w="4424516" h="4114800">
                <a:moveTo>
                  <a:pt x="0" y="0"/>
                </a:moveTo>
                <a:lnTo>
                  <a:pt x="4424516" y="0"/>
                </a:lnTo>
                <a:lnTo>
                  <a:pt x="4424516"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5" name="TextBox 5"/>
          <p:cNvSpPr txBox="1"/>
          <p:nvPr/>
        </p:nvSpPr>
        <p:spPr>
          <a:xfrm>
            <a:off x="1028700" y="933450"/>
            <a:ext cx="14810649" cy="870580"/>
          </a:xfrm>
          <a:prstGeom prst="rect">
            <a:avLst/>
          </a:prstGeom>
        </p:spPr>
        <p:txBody>
          <a:bodyPr lIns="0" tIns="0" rIns="0" bIns="0" rtlCol="0" anchor="t">
            <a:spAutoFit/>
          </a:bodyPr>
          <a:lstStyle/>
          <a:p>
            <a:pPr algn="just">
              <a:lnSpc>
                <a:spcPts val="7140"/>
              </a:lnSpc>
              <a:spcBef>
                <a:spcPct val="0"/>
              </a:spcBef>
            </a:pPr>
            <a:r>
              <a:rPr lang="en-US" sz="5100" b="1">
                <a:solidFill>
                  <a:srgbClr val="FFFFFF"/>
                </a:solidFill>
                <a:latin typeface="Montserrat Bold"/>
                <a:ea typeface="Montserrat Bold"/>
                <a:cs typeface="Montserrat Bold"/>
                <a:sym typeface="Montserrat Bold"/>
              </a:rPr>
              <a:t>Executive &amp; Architecture Summary</a:t>
            </a:r>
          </a:p>
        </p:txBody>
      </p:sp>
      <p:sp>
        <p:nvSpPr>
          <p:cNvPr id="6" name="TextBox 6"/>
          <p:cNvSpPr txBox="1"/>
          <p:nvPr/>
        </p:nvSpPr>
        <p:spPr>
          <a:xfrm>
            <a:off x="1028700" y="3347493"/>
            <a:ext cx="13830300" cy="1654299"/>
          </a:xfrm>
          <a:prstGeom prst="rect">
            <a:avLst/>
          </a:prstGeom>
        </p:spPr>
        <p:txBody>
          <a:bodyPr wrap="square" lIns="0" tIns="0" rIns="0" bIns="0" rtlCol="0" anchor="t">
            <a:spAutoFit/>
          </a:bodyPr>
          <a:lstStyle/>
          <a:p>
            <a:pPr algn="l">
              <a:lnSpc>
                <a:spcPts val="4339"/>
              </a:lnSpc>
              <a:spcBef>
                <a:spcPct val="0"/>
              </a:spcBef>
            </a:pPr>
            <a:r>
              <a:rPr lang="en-US" sz="4000" dirty="0">
                <a:solidFill>
                  <a:srgbClr val="FFFFFF"/>
                </a:solidFill>
                <a:latin typeface="Arimo"/>
                <a:ea typeface="Arimo"/>
                <a:cs typeface="Arimo"/>
                <a:sym typeface="Arimo"/>
              </a:rPr>
              <a:t>The Problem: </a:t>
            </a:r>
            <a:r>
              <a:rPr lang="en-US" sz="4000" dirty="0" err="1">
                <a:solidFill>
                  <a:srgbClr val="FFFFFF"/>
                </a:solidFill>
                <a:latin typeface="Arimo"/>
                <a:ea typeface="Arimo"/>
                <a:cs typeface="Arimo"/>
                <a:sym typeface="Arimo"/>
              </a:rPr>
              <a:t>DealDrop</a:t>
            </a:r>
            <a:r>
              <a:rPr lang="en-US" sz="4000" dirty="0">
                <a:solidFill>
                  <a:srgbClr val="FFFFFF"/>
                </a:solidFill>
                <a:latin typeface="Arimo"/>
                <a:ea typeface="Arimo"/>
                <a:cs typeface="Arimo"/>
                <a:sym typeface="Arimo"/>
              </a:rPr>
              <a:t> faces massive traffic spikes (from 2,000 to 60,000 users in 5 minutes), resulting in slow page loads and checkout errors.</a:t>
            </a:r>
          </a:p>
        </p:txBody>
      </p:sp>
      <p:sp>
        <p:nvSpPr>
          <p:cNvPr id="7" name="TextBox 7"/>
          <p:cNvSpPr txBox="1"/>
          <p:nvPr/>
        </p:nvSpPr>
        <p:spPr>
          <a:xfrm>
            <a:off x="1063867" y="5676900"/>
            <a:ext cx="11770917" cy="1654299"/>
          </a:xfrm>
          <a:prstGeom prst="rect">
            <a:avLst/>
          </a:prstGeom>
        </p:spPr>
        <p:txBody>
          <a:bodyPr lIns="0" tIns="0" rIns="0" bIns="0" rtlCol="0" anchor="t">
            <a:spAutoFit/>
          </a:bodyPr>
          <a:lstStyle/>
          <a:p>
            <a:pPr algn="l">
              <a:lnSpc>
                <a:spcPts val="4339"/>
              </a:lnSpc>
              <a:spcBef>
                <a:spcPct val="0"/>
              </a:spcBef>
            </a:pPr>
            <a:r>
              <a:rPr lang="en-US" sz="4000" dirty="0">
                <a:solidFill>
                  <a:srgbClr val="FFFFFF"/>
                </a:solidFill>
                <a:latin typeface="Arimo"/>
                <a:ea typeface="Arimo"/>
                <a:cs typeface="Arimo"/>
                <a:sym typeface="Arimo"/>
              </a:rPr>
              <a:t>Solution: A three-tier architecture leveraging global edge caching, in-memory application caching, and auto-scaling compute power</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Freeform 2"/>
          <p:cNvSpPr/>
          <p:nvPr/>
        </p:nvSpPr>
        <p:spPr>
          <a:xfrm>
            <a:off x="384429" y="-5491495"/>
            <a:ext cx="17519141" cy="8890964"/>
          </a:xfrm>
          <a:custGeom>
            <a:avLst/>
            <a:gdLst/>
            <a:ahLst/>
            <a:cxnLst/>
            <a:rect l="l" t="t" r="r" b="b"/>
            <a:pathLst>
              <a:path w="17519141" h="8890964">
                <a:moveTo>
                  <a:pt x="0" y="0"/>
                </a:moveTo>
                <a:lnTo>
                  <a:pt x="17519142" y="0"/>
                </a:lnTo>
                <a:lnTo>
                  <a:pt x="17519142" y="8890964"/>
                </a:lnTo>
                <a:lnTo>
                  <a:pt x="0" y="8890964"/>
                </a:lnTo>
                <a:lnTo>
                  <a:pt x="0" y="0"/>
                </a:lnTo>
                <a:close/>
              </a:path>
            </a:pathLst>
          </a:custGeom>
          <a:blipFill>
            <a:blip r:embed="rId2"/>
            <a:stretch>
              <a:fillRect/>
            </a:stretch>
          </a:blipFill>
        </p:spPr>
        <p:txBody>
          <a:bodyPr/>
          <a:lstStyle/>
          <a:p>
            <a:endParaRPr lang="en-US"/>
          </a:p>
        </p:txBody>
      </p:sp>
      <p:sp>
        <p:nvSpPr>
          <p:cNvPr id="3" name="Freeform 3"/>
          <p:cNvSpPr/>
          <p:nvPr/>
        </p:nvSpPr>
        <p:spPr>
          <a:xfrm>
            <a:off x="-1743762" y="5403341"/>
            <a:ext cx="9978940" cy="8229600"/>
          </a:xfrm>
          <a:custGeom>
            <a:avLst/>
            <a:gdLst/>
            <a:ahLst/>
            <a:cxnLst/>
            <a:rect l="l" t="t" r="r" b="b"/>
            <a:pathLst>
              <a:path w="9978940" h="8229600">
                <a:moveTo>
                  <a:pt x="0" y="0"/>
                </a:moveTo>
                <a:lnTo>
                  <a:pt x="9978940" y="0"/>
                </a:lnTo>
                <a:lnTo>
                  <a:pt x="9978940" y="8229600"/>
                </a:lnTo>
                <a:lnTo>
                  <a:pt x="0" y="8229600"/>
                </a:lnTo>
                <a:lnTo>
                  <a:pt x="0" y="0"/>
                </a:lnTo>
                <a:close/>
              </a:path>
            </a:pathLst>
          </a:custGeom>
          <a:blipFill>
            <a:blip r:embed="rId3"/>
            <a:stretch>
              <a:fillRect/>
            </a:stretch>
          </a:blipFill>
        </p:spPr>
        <p:txBody>
          <a:bodyPr/>
          <a:lstStyle/>
          <a:p>
            <a:endParaRPr lang="en-US"/>
          </a:p>
        </p:txBody>
      </p:sp>
      <p:sp>
        <p:nvSpPr>
          <p:cNvPr id="4" name="Freeform 4"/>
          <p:cNvSpPr/>
          <p:nvPr/>
        </p:nvSpPr>
        <p:spPr>
          <a:xfrm rot="-8470907">
            <a:off x="13028805" y="2987716"/>
            <a:ext cx="9978940" cy="8229600"/>
          </a:xfrm>
          <a:custGeom>
            <a:avLst/>
            <a:gdLst/>
            <a:ahLst/>
            <a:cxnLst/>
            <a:rect l="l" t="t" r="r" b="b"/>
            <a:pathLst>
              <a:path w="9978940" h="8229600">
                <a:moveTo>
                  <a:pt x="0" y="0"/>
                </a:moveTo>
                <a:lnTo>
                  <a:pt x="9978941" y="0"/>
                </a:lnTo>
                <a:lnTo>
                  <a:pt x="9978941" y="8229600"/>
                </a:lnTo>
                <a:lnTo>
                  <a:pt x="0" y="8229600"/>
                </a:lnTo>
                <a:lnTo>
                  <a:pt x="0" y="0"/>
                </a:lnTo>
                <a:close/>
              </a:path>
            </a:pathLst>
          </a:custGeom>
          <a:blipFill>
            <a:blip r:embed="rId3"/>
            <a:stretch>
              <a:fillRect/>
            </a:stretch>
          </a:blipFill>
        </p:spPr>
        <p:txBody>
          <a:bodyPr/>
          <a:lstStyle/>
          <a:p>
            <a:endParaRPr lang="en-US"/>
          </a:p>
        </p:txBody>
      </p:sp>
      <p:sp>
        <p:nvSpPr>
          <p:cNvPr id="5" name="TextBox 5"/>
          <p:cNvSpPr txBox="1"/>
          <p:nvPr/>
        </p:nvSpPr>
        <p:spPr>
          <a:xfrm>
            <a:off x="1028700" y="179896"/>
            <a:ext cx="16230600" cy="2787649"/>
          </a:xfrm>
          <a:prstGeom prst="rect">
            <a:avLst/>
          </a:prstGeom>
        </p:spPr>
        <p:txBody>
          <a:bodyPr lIns="0" tIns="0" rIns="0" bIns="0" rtlCol="0" anchor="t">
            <a:spAutoFit/>
          </a:bodyPr>
          <a:lstStyle/>
          <a:p>
            <a:pPr algn="ctr">
              <a:lnSpc>
                <a:spcPts val="11200"/>
              </a:lnSpc>
              <a:spcBef>
                <a:spcPct val="0"/>
              </a:spcBef>
            </a:pPr>
            <a:r>
              <a:rPr lang="en-US" sz="8000" b="1">
                <a:solidFill>
                  <a:srgbClr val="FFFFFF"/>
                </a:solidFill>
                <a:latin typeface="Montserrat Bold"/>
                <a:ea typeface="Montserrat Bold"/>
                <a:cs typeface="Montserrat Bold"/>
                <a:sym typeface="Montserrat Bold"/>
              </a:rPr>
              <a:t>Bottlenecks &amp; Workload Categories</a:t>
            </a:r>
          </a:p>
        </p:txBody>
      </p:sp>
      <p:sp>
        <p:nvSpPr>
          <p:cNvPr id="6" name="TextBox 6"/>
          <p:cNvSpPr txBox="1"/>
          <p:nvPr/>
        </p:nvSpPr>
        <p:spPr>
          <a:xfrm>
            <a:off x="1370864" y="4067175"/>
            <a:ext cx="13322993" cy="2393284"/>
          </a:xfrm>
          <a:prstGeom prst="rect">
            <a:avLst/>
          </a:prstGeom>
        </p:spPr>
        <p:txBody>
          <a:bodyPr lIns="0" tIns="0" rIns="0" bIns="0" rtlCol="0" anchor="t">
            <a:spAutoFit/>
          </a:bodyPr>
          <a:lstStyle/>
          <a:p>
            <a:pPr algn="ctr">
              <a:lnSpc>
                <a:spcPts val="2691"/>
              </a:lnSpc>
              <a:spcBef>
                <a:spcPct val="0"/>
              </a:spcBef>
            </a:pPr>
            <a:r>
              <a:rPr lang="en-US" sz="2800" dirty="0">
                <a:solidFill>
                  <a:srgbClr val="FFFFFF"/>
                </a:solidFill>
                <a:latin typeface="Arimo"/>
                <a:ea typeface="Arimo"/>
                <a:cs typeface="Arimo"/>
                <a:sym typeface="Arimo"/>
              </a:rPr>
              <a:t>  1. Front-End Compute: Fixed server capacity cannot handle a 3,000% user increase in minutes.</a:t>
            </a:r>
          </a:p>
          <a:p>
            <a:pPr algn="ctr">
              <a:lnSpc>
                <a:spcPts val="2691"/>
              </a:lnSpc>
              <a:spcBef>
                <a:spcPct val="0"/>
              </a:spcBef>
            </a:pPr>
            <a:r>
              <a:rPr lang="en-US" sz="2800" dirty="0">
                <a:solidFill>
                  <a:srgbClr val="FFFFFF"/>
                </a:solidFill>
                <a:latin typeface="Arimo"/>
                <a:ea typeface="Arimo"/>
                <a:cs typeface="Arimo"/>
                <a:sym typeface="Arimo"/>
              </a:rPr>
              <a:t>        2. Database Locking: High read-to-write ratios (25:1) will overwhelm a single database instance during checkouts.</a:t>
            </a:r>
          </a:p>
          <a:p>
            <a:pPr algn="ctr">
              <a:lnSpc>
                <a:spcPts val="2691"/>
              </a:lnSpc>
              <a:spcBef>
                <a:spcPct val="0"/>
              </a:spcBef>
            </a:pPr>
            <a:r>
              <a:rPr lang="en-US" sz="2800" dirty="0">
                <a:solidFill>
                  <a:srgbClr val="FFFFFF"/>
                </a:solidFill>
                <a:latin typeface="Arimo"/>
                <a:ea typeface="Arimo"/>
                <a:cs typeface="Arimo"/>
                <a:sym typeface="Arimo"/>
              </a:rPr>
              <a:t>        3. Global Latency: Customers in Europe and Asia (60% of traffic) face slow speeds if all data is in one region.</a:t>
            </a:r>
          </a:p>
          <a:p>
            <a:pPr algn="ctr">
              <a:lnSpc>
                <a:spcPts val="2691"/>
              </a:lnSpc>
              <a:spcBef>
                <a:spcPct val="0"/>
              </a:spcBef>
            </a:pPr>
            <a:endParaRPr lang="en-US" sz="1922" dirty="0">
              <a:solidFill>
                <a:srgbClr val="FFFFFF"/>
              </a:solidFill>
              <a:latin typeface="Arimo"/>
              <a:ea typeface="Arimo"/>
              <a:cs typeface="Arimo"/>
              <a:sym typeface="Arimo"/>
            </a:endParaRPr>
          </a:p>
        </p:txBody>
      </p:sp>
      <p:sp>
        <p:nvSpPr>
          <p:cNvPr id="7" name="TextBox 7"/>
          <p:cNvSpPr txBox="1"/>
          <p:nvPr/>
        </p:nvSpPr>
        <p:spPr>
          <a:xfrm>
            <a:off x="1227174" y="3240257"/>
            <a:ext cx="6240425" cy="492251"/>
          </a:xfrm>
          <a:prstGeom prst="rect">
            <a:avLst/>
          </a:prstGeom>
        </p:spPr>
        <p:txBody>
          <a:bodyPr wrap="square" lIns="0" tIns="0" rIns="0" bIns="0" rtlCol="0" anchor="t">
            <a:spAutoFit/>
          </a:bodyPr>
          <a:lstStyle/>
          <a:p>
            <a:pPr algn="ctr">
              <a:lnSpc>
                <a:spcPts val="3812"/>
              </a:lnSpc>
              <a:spcBef>
                <a:spcPct val="0"/>
              </a:spcBef>
            </a:pPr>
            <a:r>
              <a:rPr lang="en-US" sz="4000" b="1" dirty="0">
                <a:solidFill>
                  <a:srgbClr val="FFFFFF"/>
                </a:solidFill>
                <a:latin typeface="Montserrat Bold"/>
                <a:ea typeface="Montserrat Bold"/>
                <a:cs typeface="Montserrat Bold"/>
                <a:sym typeface="Montserrat Bold"/>
              </a:rPr>
              <a:t>3 Major Bottlenecks</a:t>
            </a:r>
          </a:p>
        </p:txBody>
      </p:sp>
      <p:sp>
        <p:nvSpPr>
          <p:cNvPr id="8" name="TextBox 8"/>
          <p:cNvSpPr txBox="1"/>
          <p:nvPr/>
        </p:nvSpPr>
        <p:spPr>
          <a:xfrm>
            <a:off x="1028700" y="7054891"/>
            <a:ext cx="13564687" cy="2047035"/>
          </a:xfrm>
          <a:prstGeom prst="rect">
            <a:avLst/>
          </a:prstGeom>
        </p:spPr>
        <p:txBody>
          <a:bodyPr lIns="0" tIns="0" rIns="0" bIns="0" rtlCol="0" anchor="t">
            <a:spAutoFit/>
          </a:bodyPr>
          <a:lstStyle/>
          <a:p>
            <a:pPr algn="ctr">
              <a:lnSpc>
                <a:spcPts val="2691"/>
              </a:lnSpc>
              <a:spcBef>
                <a:spcPct val="0"/>
              </a:spcBef>
            </a:pPr>
            <a:r>
              <a:rPr lang="en-US" sz="3200" dirty="0">
                <a:solidFill>
                  <a:srgbClr val="FFFFFF"/>
                </a:solidFill>
                <a:latin typeface="Arimo"/>
                <a:ea typeface="Arimo"/>
                <a:cs typeface="Arimo"/>
                <a:sym typeface="Arimo"/>
              </a:rPr>
              <a:t>      1. Static: Product images (change daily/weekly).</a:t>
            </a:r>
          </a:p>
          <a:p>
            <a:pPr algn="ctr">
              <a:lnSpc>
                <a:spcPts val="2691"/>
              </a:lnSpc>
              <a:spcBef>
                <a:spcPct val="0"/>
              </a:spcBef>
            </a:pPr>
            <a:r>
              <a:rPr lang="en-US" sz="3200" dirty="0">
                <a:solidFill>
                  <a:srgbClr val="FFFFFF"/>
                </a:solidFill>
                <a:latin typeface="Arimo"/>
                <a:ea typeface="Arimo"/>
                <a:cs typeface="Arimo"/>
                <a:sym typeface="Arimo"/>
              </a:rPr>
              <a:t>        2. Read-Heavy Dynamic: Product listings and search results (can tolerate 30-second delay).</a:t>
            </a:r>
          </a:p>
          <a:p>
            <a:pPr algn="ctr">
              <a:lnSpc>
                <a:spcPts val="2691"/>
              </a:lnSpc>
              <a:spcBef>
                <a:spcPct val="0"/>
              </a:spcBef>
            </a:pPr>
            <a:r>
              <a:rPr lang="en-US" sz="3200" dirty="0">
                <a:solidFill>
                  <a:srgbClr val="FFFFFF"/>
                </a:solidFill>
                <a:latin typeface="Arimo"/>
                <a:ea typeface="Arimo"/>
                <a:cs typeface="Arimo"/>
                <a:sym typeface="Arimo"/>
              </a:rPr>
              <a:t>        3. Write-Heavy/Consistent: Checkout and inventory (must be current/accurate)</a:t>
            </a:r>
          </a:p>
          <a:p>
            <a:pPr algn="ctr">
              <a:lnSpc>
                <a:spcPts val="2691"/>
              </a:lnSpc>
              <a:spcBef>
                <a:spcPct val="0"/>
              </a:spcBef>
            </a:pPr>
            <a:endParaRPr lang="en-US" sz="1922" dirty="0">
              <a:solidFill>
                <a:srgbClr val="FFFFFF"/>
              </a:solidFill>
              <a:latin typeface="Arimo"/>
              <a:ea typeface="Arimo"/>
              <a:cs typeface="Arimo"/>
              <a:sym typeface="Arimo"/>
            </a:endParaRPr>
          </a:p>
        </p:txBody>
      </p:sp>
      <p:sp>
        <p:nvSpPr>
          <p:cNvPr id="9" name="TextBox 9"/>
          <p:cNvSpPr txBox="1"/>
          <p:nvPr/>
        </p:nvSpPr>
        <p:spPr>
          <a:xfrm>
            <a:off x="1370864" y="6260502"/>
            <a:ext cx="6440179" cy="564257"/>
          </a:xfrm>
          <a:prstGeom prst="rect">
            <a:avLst/>
          </a:prstGeom>
        </p:spPr>
        <p:txBody>
          <a:bodyPr lIns="0" tIns="0" rIns="0" bIns="0" rtlCol="0" anchor="t">
            <a:spAutoFit/>
          </a:bodyPr>
          <a:lstStyle/>
          <a:p>
            <a:pPr algn="ctr">
              <a:lnSpc>
                <a:spcPts val="4372"/>
              </a:lnSpc>
              <a:spcBef>
                <a:spcPct val="0"/>
              </a:spcBef>
            </a:pPr>
            <a:r>
              <a:rPr lang="en-US" sz="4000" b="1" dirty="0">
                <a:solidFill>
                  <a:srgbClr val="FFFFFF"/>
                </a:solidFill>
                <a:latin typeface="Montserrat Bold"/>
                <a:ea typeface="Montserrat Bold"/>
                <a:cs typeface="Montserrat Bold"/>
                <a:sym typeface="Montserrat Bold"/>
              </a:rPr>
              <a:t>3 Workload Categories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Freeform 2"/>
          <p:cNvSpPr/>
          <p:nvPr/>
        </p:nvSpPr>
        <p:spPr>
          <a:xfrm>
            <a:off x="-1305202" y="-2267980"/>
            <a:ext cx="9880460" cy="8229600"/>
          </a:xfrm>
          <a:custGeom>
            <a:avLst/>
            <a:gdLst/>
            <a:ahLst/>
            <a:cxnLst/>
            <a:rect l="l" t="t" r="r" b="b"/>
            <a:pathLst>
              <a:path w="9880460" h="8229600">
                <a:moveTo>
                  <a:pt x="0" y="0"/>
                </a:moveTo>
                <a:lnTo>
                  <a:pt x="9880460" y="0"/>
                </a:lnTo>
                <a:lnTo>
                  <a:pt x="9880460" y="8229600"/>
                </a:lnTo>
                <a:lnTo>
                  <a:pt x="0" y="8229600"/>
                </a:lnTo>
                <a:lnTo>
                  <a:pt x="0" y="0"/>
                </a:lnTo>
                <a:close/>
              </a:path>
            </a:pathLst>
          </a:custGeom>
          <a:blipFill>
            <a:blip r:embed="rId2"/>
            <a:stretch>
              <a:fillRect/>
            </a:stretch>
          </a:blipFill>
        </p:spPr>
        <p:txBody>
          <a:bodyPr/>
          <a:lstStyle/>
          <a:p>
            <a:endParaRPr lang="en-US"/>
          </a:p>
        </p:txBody>
      </p:sp>
      <p:sp>
        <p:nvSpPr>
          <p:cNvPr id="3" name="Freeform 3"/>
          <p:cNvSpPr/>
          <p:nvPr/>
        </p:nvSpPr>
        <p:spPr>
          <a:xfrm>
            <a:off x="5715000" y="416668"/>
            <a:ext cx="12847893" cy="13383222"/>
          </a:xfrm>
          <a:custGeom>
            <a:avLst/>
            <a:gdLst/>
            <a:ahLst/>
            <a:cxnLst/>
            <a:rect l="l" t="t" r="r" b="b"/>
            <a:pathLst>
              <a:path w="12847893" h="13383222">
                <a:moveTo>
                  <a:pt x="0" y="0"/>
                </a:moveTo>
                <a:lnTo>
                  <a:pt x="12847893" y="0"/>
                </a:lnTo>
                <a:lnTo>
                  <a:pt x="12847893" y="13383222"/>
                </a:lnTo>
                <a:lnTo>
                  <a:pt x="0" y="13383222"/>
                </a:lnTo>
                <a:lnTo>
                  <a:pt x="0" y="0"/>
                </a:lnTo>
                <a:close/>
              </a:path>
            </a:pathLst>
          </a:custGeom>
          <a:blipFill>
            <a:blip r:embed="rId3">
              <a:alphaModFix amt="49000"/>
            </a:blip>
            <a:stretch>
              <a:fillRect/>
            </a:stretch>
          </a:blipFill>
        </p:spPr>
        <p:txBody>
          <a:bodyPr/>
          <a:lstStyle/>
          <a:p>
            <a:endParaRPr lang="en-US"/>
          </a:p>
        </p:txBody>
      </p:sp>
      <p:sp>
        <p:nvSpPr>
          <p:cNvPr id="4" name="TextBox 4"/>
          <p:cNvSpPr txBox="1"/>
          <p:nvPr/>
        </p:nvSpPr>
        <p:spPr>
          <a:xfrm>
            <a:off x="1028700" y="914400"/>
            <a:ext cx="16459316" cy="2264322"/>
          </a:xfrm>
          <a:prstGeom prst="rect">
            <a:avLst/>
          </a:prstGeom>
        </p:spPr>
        <p:txBody>
          <a:bodyPr lIns="0" tIns="0" rIns="0" bIns="0" rtlCol="0" anchor="t">
            <a:spAutoFit/>
          </a:bodyPr>
          <a:lstStyle/>
          <a:p>
            <a:pPr algn="l">
              <a:lnSpc>
                <a:spcPts val="8163"/>
              </a:lnSpc>
              <a:spcBef>
                <a:spcPct val="0"/>
              </a:spcBef>
            </a:pPr>
            <a:r>
              <a:rPr lang="en-US" sz="5831" b="1">
                <a:solidFill>
                  <a:srgbClr val="FFFFFF"/>
                </a:solidFill>
                <a:latin typeface="Montserrat Bold"/>
                <a:ea typeface="Montserrat Bold"/>
                <a:cs typeface="Montserrat Bold"/>
                <a:sym typeface="Montserrat Bold"/>
              </a:rPr>
              <a:t>Compute Scaling and Elasticity Design </a:t>
            </a:r>
          </a:p>
          <a:p>
            <a:pPr algn="l">
              <a:lnSpc>
                <a:spcPts val="10100"/>
              </a:lnSpc>
              <a:spcBef>
                <a:spcPct val="0"/>
              </a:spcBef>
            </a:pPr>
            <a:endParaRPr lang="en-US" sz="5831" b="1">
              <a:solidFill>
                <a:srgbClr val="FFFFFF"/>
              </a:solidFill>
              <a:latin typeface="Montserrat Bold"/>
              <a:ea typeface="Montserrat Bold"/>
              <a:cs typeface="Montserrat Bold"/>
              <a:sym typeface="Montserrat Bold"/>
            </a:endParaRPr>
          </a:p>
        </p:txBody>
      </p:sp>
      <p:sp>
        <p:nvSpPr>
          <p:cNvPr id="5" name="Freeform 5"/>
          <p:cNvSpPr/>
          <p:nvPr/>
        </p:nvSpPr>
        <p:spPr>
          <a:xfrm>
            <a:off x="16128797" y="1873995"/>
            <a:ext cx="1876714" cy="1944782"/>
          </a:xfrm>
          <a:custGeom>
            <a:avLst/>
            <a:gdLst/>
            <a:ahLst/>
            <a:cxnLst/>
            <a:rect l="l" t="t" r="r" b="b"/>
            <a:pathLst>
              <a:path w="1876714" h="1944782">
                <a:moveTo>
                  <a:pt x="0" y="0"/>
                </a:moveTo>
                <a:lnTo>
                  <a:pt x="1876714" y="0"/>
                </a:lnTo>
                <a:lnTo>
                  <a:pt x="1876714" y="1944782"/>
                </a:lnTo>
                <a:lnTo>
                  <a:pt x="0" y="194478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6" name="TextBox 6"/>
          <p:cNvSpPr txBox="1"/>
          <p:nvPr/>
        </p:nvSpPr>
        <p:spPr>
          <a:xfrm>
            <a:off x="825384" y="2368823"/>
            <a:ext cx="15147173" cy="6989093"/>
          </a:xfrm>
          <a:prstGeom prst="rect">
            <a:avLst/>
          </a:prstGeom>
        </p:spPr>
        <p:txBody>
          <a:bodyPr lIns="0" tIns="0" rIns="0" bIns="0" rtlCol="0" anchor="t">
            <a:spAutoFit/>
          </a:bodyPr>
          <a:lstStyle/>
          <a:p>
            <a:pPr algn="ctr">
              <a:lnSpc>
                <a:spcPts val="2488"/>
              </a:lnSpc>
            </a:pPr>
            <a:r>
              <a:rPr lang="en-US" sz="2800" b="1" dirty="0">
                <a:solidFill>
                  <a:srgbClr val="FFFFFF"/>
                </a:solidFill>
                <a:latin typeface="Montserrat Bold"/>
                <a:ea typeface="Montserrat Bold"/>
                <a:cs typeface="Montserrat Bold"/>
                <a:sym typeface="Montserrat Bold"/>
              </a:rPr>
              <a:t>• Amazon EC2 (Elastic Compute Cloud): </a:t>
            </a:r>
            <a:r>
              <a:rPr lang="en-US" sz="2800" dirty="0">
                <a:solidFill>
                  <a:srgbClr val="FFFFFF"/>
                </a:solidFill>
                <a:latin typeface="Montserrat"/>
                <a:ea typeface="Montserrat"/>
                <a:cs typeface="Montserrat"/>
                <a:sym typeface="Montserrat"/>
              </a:rPr>
              <a:t>Provides the highly configurable virtual servers to host the three-tier web application and checkout logic. </a:t>
            </a:r>
          </a:p>
          <a:p>
            <a:pPr algn="ctr">
              <a:lnSpc>
                <a:spcPts val="2488"/>
              </a:lnSpc>
            </a:pPr>
            <a:endParaRPr lang="en-US" sz="2800" dirty="0">
              <a:solidFill>
                <a:srgbClr val="FFFFFF"/>
              </a:solidFill>
              <a:latin typeface="Montserrat"/>
              <a:ea typeface="Montserrat"/>
              <a:cs typeface="Montserrat"/>
              <a:sym typeface="Montserrat"/>
            </a:endParaRPr>
          </a:p>
          <a:p>
            <a:pPr algn="ctr">
              <a:lnSpc>
                <a:spcPts val="2488"/>
              </a:lnSpc>
            </a:pPr>
            <a:r>
              <a:rPr lang="en-US" sz="2800" b="1" dirty="0">
                <a:solidFill>
                  <a:srgbClr val="FFFFFF"/>
                </a:solidFill>
                <a:latin typeface="Montserrat Bold"/>
                <a:ea typeface="Montserrat Bold"/>
                <a:cs typeface="Montserrat Bold"/>
                <a:sym typeface="Montserrat Bold"/>
              </a:rPr>
              <a:t>• Elastic Load Balancing (ALB): </a:t>
            </a:r>
            <a:r>
              <a:rPr lang="en-US" sz="2800" dirty="0">
                <a:solidFill>
                  <a:srgbClr val="FFFFFF"/>
                </a:solidFill>
                <a:latin typeface="Montserrat"/>
                <a:ea typeface="Montserrat"/>
                <a:cs typeface="Montserrat"/>
                <a:sym typeface="Montserrat"/>
              </a:rPr>
              <a:t>An Application Load Balancer operates at OSI Layer 7 to distribute incoming HTTP/HTTPS traffic across multiple targets. This ensures that no single EC2 instance is overwhelmed during the </a:t>
            </a:r>
            <a:r>
              <a:rPr lang="en-US" sz="2800" dirty="0" err="1">
                <a:solidFill>
                  <a:srgbClr val="FFFFFF"/>
                </a:solidFill>
                <a:latin typeface="Montserrat"/>
                <a:ea typeface="Montserrat"/>
                <a:cs typeface="Montserrat"/>
                <a:sym typeface="Montserrat"/>
              </a:rPr>
              <a:t>DealDrop</a:t>
            </a:r>
            <a:r>
              <a:rPr lang="en-US" sz="2800" dirty="0">
                <a:solidFill>
                  <a:srgbClr val="FFFFFF"/>
                </a:solidFill>
                <a:latin typeface="Montserrat"/>
                <a:ea typeface="Montserrat"/>
                <a:cs typeface="Montserrat"/>
                <a:sym typeface="Montserrat"/>
              </a:rPr>
              <a:t> Event. </a:t>
            </a:r>
          </a:p>
          <a:p>
            <a:pPr algn="ctr">
              <a:lnSpc>
                <a:spcPts val="2488"/>
              </a:lnSpc>
            </a:pPr>
            <a:endParaRPr lang="en-US" sz="2800" dirty="0">
              <a:solidFill>
                <a:srgbClr val="FFFFFF"/>
              </a:solidFill>
              <a:latin typeface="Montserrat"/>
              <a:ea typeface="Montserrat"/>
              <a:cs typeface="Montserrat"/>
              <a:sym typeface="Montserrat"/>
            </a:endParaRPr>
          </a:p>
          <a:p>
            <a:pPr algn="ctr">
              <a:lnSpc>
                <a:spcPts val="2488"/>
              </a:lnSpc>
              <a:spcBef>
                <a:spcPct val="0"/>
              </a:spcBef>
            </a:pPr>
            <a:r>
              <a:rPr lang="en-US" sz="2800" b="1" dirty="0">
                <a:solidFill>
                  <a:srgbClr val="FFFFFF"/>
                </a:solidFill>
                <a:latin typeface="Montserrat Bold"/>
                <a:ea typeface="Montserrat Bold"/>
                <a:cs typeface="Montserrat Bold"/>
                <a:sym typeface="Montserrat Bold"/>
              </a:rPr>
              <a:t>• Amazon EC2 Auto Scaling (ASG): </a:t>
            </a:r>
            <a:r>
              <a:rPr lang="en-US" sz="2800" dirty="0">
                <a:solidFill>
                  <a:srgbClr val="FFFFFF"/>
                </a:solidFill>
                <a:latin typeface="Montserrat"/>
                <a:ea typeface="Montserrat"/>
                <a:cs typeface="Montserrat"/>
                <a:sym typeface="Montserrat"/>
              </a:rPr>
              <a:t>Manages a collection of instances as a group to perform Scaling Out (adding servers) during traffic bursts and Scaling In (removing servers) during normal hours to control costs. </a:t>
            </a:r>
          </a:p>
          <a:p>
            <a:pPr algn="ctr">
              <a:lnSpc>
                <a:spcPts val="2488"/>
              </a:lnSpc>
              <a:spcBef>
                <a:spcPct val="0"/>
              </a:spcBef>
            </a:pPr>
            <a:endParaRPr lang="en-US" sz="2800" dirty="0">
              <a:solidFill>
                <a:srgbClr val="FFFFFF"/>
              </a:solidFill>
              <a:latin typeface="Montserrat"/>
              <a:ea typeface="Montserrat"/>
              <a:cs typeface="Montserrat"/>
              <a:sym typeface="Montserrat"/>
            </a:endParaRPr>
          </a:p>
          <a:p>
            <a:pPr algn="ctr">
              <a:lnSpc>
                <a:spcPts val="2488"/>
              </a:lnSpc>
              <a:spcBef>
                <a:spcPct val="0"/>
              </a:spcBef>
            </a:pPr>
            <a:r>
              <a:rPr lang="en-US" sz="2800" b="1" dirty="0">
                <a:solidFill>
                  <a:srgbClr val="FFFFFF"/>
                </a:solidFill>
                <a:latin typeface="Montserrat Bold"/>
                <a:ea typeface="Montserrat Bold"/>
                <a:cs typeface="Montserrat Bold"/>
                <a:sym typeface="Montserrat Bold"/>
              </a:rPr>
              <a:t>    ◦ Scaling Signals: </a:t>
            </a:r>
            <a:r>
              <a:rPr lang="en-US" sz="2800" dirty="0">
                <a:solidFill>
                  <a:srgbClr val="FFFFFF"/>
                </a:solidFill>
                <a:latin typeface="Montserrat"/>
                <a:ea typeface="Montserrat"/>
                <a:cs typeface="Montserrat"/>
                <a:sym typeface="Montserrat"/>
              </a:rPr>
              <a:t>We should monitor Average CPU Utilization and ALB Request Count Per Target to trigger scaling actions before capacity is reached. </a:t>
            </a:r>
          </a:p>
          <a:p>
            <a:pPr algn="ctr">
              <a:lnSpc>
                <a:spcPts val="2488"/>
              </a:lnSpc>
              <a:spcBef>
                <a:spcPct val="0"/>
              </a:spcBef>
            </a:pPr>
            <a:endParaRPr lang="en-US" sz="2800" dirty="0">
              <a:solidFill>
                <a:srgbClr val="FFFFFF"/>
              </a:solidFill>
              <a:latin typeface="Montserrat"/>
              <a:ea typeface="Montserrat"/>
              <a:cs typeface="Montserrat"/>
              <a:sym typeface="Montserrat"/>
            </a:endParaRPr>
          </a:p>
          <a:p>
            <a:pPr algn="ctr">
              <a:lnSpc>
                <a:spcPts val="2488"/>
              </a:lnSpc>
              <a:spcBef>
                <a:spcPct val="0"/>
              </a:spcBef>
            </a:pPr>
            <a:r>
              <a:rPr lang="en-US" sz="2800" b="1" dirty="0">
                <a:solidFill>
                  <a:srgbClr val="FFFFFF"/>
                </a:solidFill>
                <a:latin typeface="Montserrat Bold"/>
                <a:ea typeface="Montserrat Bold"/>
                <a:cs typeface="Montserrat Bold"/>
                <a:sym typeface="Montserrat Bold"/>
              </a:rPr>
              <a:t>    ◦ Multi-Availability Zone (AZ) Placement: </a:t>
            </a:r>
            <a:r>
              <a:rPr lang="en-US" sz="2800" dirty="0">
                <a:solidFill>
                  <a:srgbClr val="FFFFFF"/>
                </a:solidFill>
                <a:latin typeface="Montserrat"/>
                <a:ea typeface="Montserrat"/>
                <a:cs typeface="Montserrat"/>
                <a:sym typeface="Montserrat"/>
              </a:rPr>
              <a:t>By spreading instances across different AZs, we ensure business continuity; if one AZ fails, the ALB routes traffic to healthy instances in other zones. </a:t>
            </a:r>
          </a:p>
          <a:p>
            <a:pPr algn="ctr">
              <a:lnSpc>
                <a:spcPts val="2488"/>
              </a:lnSpc>
              <a:spcBef>
                <a:spcPct val="0"/>
              </a:spcBef>
            </a:pPr>
            <a:endParaRPr lang="en-US" sz="2800" dirty="0">
              <a:solidFill>
                <a:srgbClr val="FFFFFF"/>
              </a:solidFill>
              <a:latin typeface="Montserrat"/>
              <a:ea typeface="Montserrat"/>
              <a:cs typeface="Montserrat"/>
              <a:sym typeface="Montserrat"/>
            </a:endParaRPr>
          </a:p>
          <a:p>
            <a:pPr algn="ctr">
              <a:lnSpc>
                <a:spcPts val="2488"/>
              </a:lnSpc>
              <a:spcBef>
                <a:spcPct val="0"/>
              </a:spcBef>
            </a:pPr>
            <a:endParaRPr lang="en-US" sz="2800" dirty="0">
              <a:solidFill>
                <a:srgbClr val="FFFFFF"/>
              </a:solidFill>
              <a:latin typeface="Montserrat"/>
              <a:ea typeface="Montserrat"/>
              <a:cs typeface="Montserrat"/>
              <a:sym typeface="Montserrat"/>
            </a:endParaRPr>
          </a:p>
          <a:p>
            <a:pPr algn="ctr">
              <a:lnSpc>
                <a:spcPts val="2488"/>
              </a:lnSpc>
              <a:spcBef>
                <a:spcPct val="0"/>
              </a:spcBef>
            </a:pPr>
            <a:r>
              <a:rPr lang="en-US" sz="2800" b="1" dirty="0">
                <a:solidFill>
                  <a:srgbClr val="FFFFFF"/>
                </a:solidFill>
                <a:latin typeface="Montserrat Bold"/>
                <a:ea typeface="Montserrat Bold"/>
                <a:cs typeface="Montserrat Bold"/>
                <a:sym typeface="Montserrat Bold"/>
              </a:rPr>
              <a:t>    ◦ Warm-up: </a:t>
            </a:r>
            <a:r>
              <a:rPr lang="en-US" sz="2800" dirty="0">
                <a:solidFill>
                  <a:srgbClr val="FFFFFF"/>
                </a:solidFill>
                <a:latin typeface="Montserrat"/>
                <a:ea typeface="Montserrat"/>
                <a:cs typeface="Montserrat"/>
                <a:sym typeface="Montserrat"/>
              </a:rPr>
              <a:t>Warm Pools of pre-initialized instances are used to decrease latency for the application's sharp 3–5 minute ramp-up time. </a:t>
            </a:r>
          </a:p>
          <a:p>
            <a:pPr algn="ctr">
              <a:lnSpc>
                <a:spcPts val="2019"/>
              </a:lnSpc>
              <a:spcBef>
                <a:spcPct val="0"/>
              </a:spcBef>
            </a:pPr>
            <a:endParaRPr lang="en-US" sz="1777" dirty="0">
              <a:solidFill>
                <a:srgbClr val="FFFFFF"/>
              </a:solidFill>
              <a:latin typeface="Montserrat"/>
              <a:ea typeface="Montserrat"/>
              <a:cs typeface="Montserrat"/>
              <a:sym typeface="Montserra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grpSp>
        <p:nvGrpSpPr>
          <p:cNvPr id="2" name="Group 2"/>
          <p:cNvGrpSpPr/>
          <p:nvPr/>
        </p:nvGrpSpPr>
        <p:grpSpPr>
          <a:xfrm>
            <a:off x="815336" y="2814892"/>
            <a:ext cx="464829" cy="464829"/>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F761E"/>
            </a:solidFill>
          </p:spPr>
          <p:txBody>
            <a:bodyPr/>
            <a:lstStyle/>
            <a:p>
              <a:endParaRPr lang="en-US"/>
            </a:p>
          </p:txBody>
        </p:sp>
        <p:sp>
          <p:nvSpPr>
            <p:cNvPr id="4" name="TextBox 4"/>
            <p:cNvSpPr txBox="1"/>
            <p:nvPr/>
          </p:nvSpPr>
          <p:spPr>
            <a:xfrm>
              <a:off x="76200" y="19050"/>
              <a:ext cx="660400" cy="717550"/>
            </a:xfrm>
            <a:prstGeom prst="rect">
              <a:avLst/>
            </a:prstGeom>
          </p:spPr>
          <p:txBody>
            <a:bodyPr lIns="50800" tIns="50800" rIns="50800" bIns="50800" rtlCol="0" anchor="ctr"/>
            <a:lstStyle/>
            <a:p>
              <a:pPr algn="ctr">
                <a:lnSpc>
                  <a:spcPts val="3359"/>
                </a:lnSpc>
              </a:pPr>
              <a:endParaRPr/>
            </a:p>
          </p:txBody>
        </p:sp>
      </p:grpSp>
      <p:grpSp>
        <p:nvGrpSpPr>
          <p:cNvPr id="5" name="Group 5"/>
          <p:cNvGrpSpPr/>
          <p:nvPr/>
        </p:nvGrpSpPr>
        <p:grpSpPr>
          <a:xfrm>
            <a:off x="796286" y="5738880"/>
            <a:ext cx="464829" cy="464829"/>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F761E"/>
            </a:solidFill>
          </p:spPr>
          <p:txBody>
            <a:bodyPr/>
            <a:lstStyle/>
            <a:p>
              <a:endParaRPr lang="en-US"/>
            </a:p>
          </p:txBody>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359"/>
                </a:lnSpc>
              </a:pPr>
              <a:endParaRPr/>
            </a:p>
          </p:txBody>
        </p:sp>
      </p:grpSp>
      <p:sp>
        <p:nvSpPr>
          <p:cNvPr id="8" name="TextBox 8"/>
          <p:cNvSpPr txBox="1"/>
          <p:nvPr/>
        </p:nvSpPr>
        <p:spPr>
          <a:xfrm>
            <a:off x="1837834" y="2539504"/>
            <a:ext cx="7764373" cy="456052"/>
          </a:xfrm>
          <a:prstGeom prst="rect">
            <a:avLst/>
          </a:prstGeom>
        </p:spPr>
        <p:txBody>
          <a:bodyPr lIns="0" tIns="0" rIns="0" bIns="0" rtlCol="0" anchor="t">
            <a:spAutoFit/>
          </a:bodyPr>
          <a:lstStyle/>
          <a:p>
            <a:pPr algn="l">
              <a:lnSpc>
                <a:spcPts val="3738"/>
              </a:lnSpc>
              <a:spcBef>
                <a:spcPct val="0"/>
              </a:spcBef>
            </a:pPr>
            <a:r>
              <a:rPr lang="en-US" sz="2670" b="1" dirty="0">
                <a:solidFill>
                  <a:srgbClr val="EF761E"/>
                </a:solidFill>
                <a:latin typeface="Montserrat Bold"/>
                <a:ea typeface="Montserrat Bold"/>
                <a:cs typeface="Montserrat Bold"/>
                <a:sym typeface="Montserrat Bold"/>
              </a:rPr>
              <a:t>Layer 1: Edge Caching (Amazon CloudFront)</a:t>
            </a:r>
          </a:p>
        </p:txBody>
      </p:sp>
      <p:sp>
        <p:nvSpPr>
          <p:cNvPr id="9" name="TextBox 9"/>
          <p:cNvSpPr txBox="1"/>
          <p:nvPr/>
        </p:nvSpPr>
        <p:spPr>
          <a:xfrm>
            <a:off x="1837834" y="3561899"/>
            <a:ext cx="7764373" cy="1638718"/>
          </a:xfrm>
          <a:prstGeom prst="rect">
            <a:avLst/>
          </a:prstGeom>
        </p:spPr>
        <p:txBody>
          <a:bodyPr lIns="0" tIns="0" rIns="0" bIns="0" rtlCol="0" anchor="t">
            <a:spAutoFit/>
          </a:bodyPr>
          <a:lstStyle/>
          <a:p>
            <a:pPr algn="l">
              <a:lnSpc>
                <a:spcPts val="2638"/>
              </a:lnSpc>
              <a:spcBef>
                <a:spcPct val="0"/>
              </a:spcBef>
            </a:pPr>
            <a:r>
              <a:rPr lang="en-US" sz="2800" dirty="0">
                <a:solidFill>
                  <a:srgbClr val="FFFFFF"/>
                </a:solidFill>
                <a:latin typeface="Arimo"/>
                <a:ea typeface="Arimo"/>
                <a:cs typeface="Arimo"/>
                <a:sym typeface="Arimo"/>
              </a:rPr>
              <a:t>This Global Content Delivery Network (CDN) delivers static content (images, CSS, scripts) from edge locations closer to users in Europe and Asia. </a:t>
            </a:r>
          </a:p>
          <a:p>
            <a:pPr algn="l">
              <a:lnSpc>
                <a:spcPts val="2638"/>
              </a:lnSpc>
              <a:spcBef>
                <a:spcPct val="0"/>
              </a:spcBef>
            </a:pPr>
            <a:endParaRPr lang="en-US" sz="1884" dirty="0">
              <a:solidFill>
                <a:srgbClr val="FFFFFF"/>
              </a:solidFill>
              <a:latin typeface="Arimo"/>
              <a:ea typeface="Arimo"/>
              <a:cs typeface="Arimo"/>
              <a:sym typeface="Arimo"/>
            </a:endParaRPr>
          </a:p>
        </p:txBody>
      </p:sp>
      <p:sp>
        <p:nvSpPr>
          <p:cNvPr id="10" name="TextBox 10"/>
          <p:cNvSpPr txBox="1"/>
          <p:nvPr/>
        </p:nvSpPr>
        <p:spPr>
          <a:xfrm>
            <a:off x="2535379" y="4986264"/>
            <a:ext cx="12760742" cy="1305294"/>
          </a:xfrm>
          <a:prstGeom prst="rect">
            <a:avLst/>
          </a:prstGeom>
        </p:spPr>
        <p:txBody>
          <a:bodyPr lIns="0" tIns="0" rIns="0" bIns="0" rtlCol="0" anchor="t">
            <a:spAutoFit/>
          </a:bodyPr>
          <a:lstStyle/>
          <a:p>
            <a:pPr algn="l">
              <a:lnSpc>
                <a:spcPts val="2638"/>
              </a:lnSpc>
              <a:spcBef>
                <a:spcPct val="0"/>
              </a:spcBef>
            </a:pPr>
            <a:r>
              <a:rPr lang="en-US" sz="2400" dirty="0">
                <a:solidFill>
                  <a:srgbClr val="FFFFFF"/>
                </a:solidFill>
                <a:latin typeface="Arimo"/>
                <a:ea typeface="Arimo"/>
                <a:cs typeface="Arimo"/>
                <a:sym typeface="Arimo"/>
              </a:rPr>
              <a:t>Cache Freshness: Static assets use long Time to Live (TTL) values (days/weeks). We can use AWS Lambda to automate cache invalidation if marketing updates product images prematurely. </a:t>
            </a:r>
          </a:p>
          <a:p>
            <a:pPr algn="l">
              <a:lnSpc>
                <a:spcPts val="2638"/>
              </a:lnSpc>
              <a:spcBef>
                <a:spcPct val="0"/>
              </a:spcBef>
            </a:pPr>
            <a:endParaRPr lang="en-US" sz="1884" dirty="0">
              <a:solidFill>
                <a:srgbClr val="FFFFFF"/>
              </a:solidFill>
              <a:latin typeface="Arimo"/>
              <a:ea typeface="Arimo"/>
              <a:cs typeface="Arimo"/>
              <a:sym typeface="Arimo"/>
            </a:endParaRPr>
          </a:p>
        </p:txBody>
      </p:sp>
      <p:sp>
        <p:nvSpPr>
          <p:cNvPr id="11" name="TextBox 11"/>
          <p:cNvSpPr txBox="1"/>
          <p:nvPr/>
        </p:nvSpPr>
        <p:spPr>
          <a:xfrm>
            <a:off x="1829935" y="6039108"/>
            <a:ext cx="11657648" cy="456052"/>
          </a:xfrm>
          <a:prstGeom prst="rect">
            <a:avLst/>
          </a:prstGeom>
        </p:spPr>
        <p:txBody>
          <a:bodyPr lIns="0" tIns="0" rIns="0" bIns="0" rtlCol="0" anchor="t">
            <a:spAutoFit/>
          </a:bodyPr>
          <a:lstStyle/>
          <a:p>
            <a:pPr algn="l">
              <a:lnSpc>
                <a:spcPts val="3738"/>
              </a:lnSpc>
              <a:spcBef>
                <a:spcPct val="0"/>
              </a:spcBef>
            </a:pPr>
            <a:r>
              <a:rPr lang="en-US" sz="2670" b="1" dirty="0">
                <a:solidFill>
                  <a:srgbClr val="EF761E"/>
                </a:solidFill>
                <a:latin typeface="Montserrat Bold"/>
                <a:ea typeface="Montserrat Bold"/>
                <a:cs typeface="Montserrat Bold"/>
                <a:sym typeface="Montserrat Bold"/>
              </a:rPr>
              <a:t>Layer 2: Application Data Caching (Amazon </a:t>
            </a:r>
            <a:r>
              <a:rPr lang="en-US" sz="2670" b="1" dirty="0" err="1">
                <a:solidFill>
                  <a:srgbClr val="EF761E"/>
                </a:solidFill>
                <a:latin typeface="Montserrat Bold"/>
                <a:ea typeface="Montserrat Bold"/>
                <a:cs typeface="Montserrat Bold"/>
                <a:sym typeface="Montserrat Bold"/>
              </a:rPr>
              <a:t>ElastiCache</a:t>
            </a:r>
            <a:r>
              <a:rPr lang="en-US" sz="2670" b="1" dirty="0">
                <a:solidFill>
                  <a:srgbClr val="EF761E"/>
                </a:solidFill>
                <a:latin typeface="Montserrat Bold"/>
                <a:ea typeface="Montserrat Bold"/>
                <a:cs typeface="Montserrat Bold"/>
                <a:sym typeface="Montserrat Bold"/>
              </a:rPr>
              <a:t> Redis)</a:t>
            </a:r>
          </a:p>
        </p:txBody>
      </p:sp>
      <p:sp>
        <p:nvSpPr>
          <p:cNvPr id="12" name="Freeform 12"/>
          <p:cNvSpPr/>
          <p:nvPr/>
        </p:nvSpPr>
        <p:spPr>
          <a:xfrm flipH="1">
            <a:off x="7924631" y="4276748"/>
            <a:ext cx="9978940" cy="8229600"/>
          </a:xfrm>
          <a:custGeom>
            <a:avLst/>
            <a:gdLst/>
            <a:ahLst/>
            <a:cxnLst/>
            <a:rect l="l" t="t" r="r" b="b"/>
            <a:pathLst>
              <a:path w="9978940" h="8229600">
                <a:moveTo>
                  <a:pt x="9978940" y="0"/>
                </a:moveTo>
                <a:lnTo>
                  <a:pt x="0" y="0"/>
                </a:lnTo>
                <a:lnTo>
                  <a:pt x="0" y="8229600"/>
                </a:lnTo>
                <a:lnTo>
                  <a:pt x="9978940" y="8229600"/>
                </a:lnTo>
                <a:lnTo>
                  <a:pt x="9978940" y="0"/>
                </a:lnTo>
                <a:close/>
              </a:path>
            </a:pathLst>
          </a:custGeom>
          <a:blipFill>
            <a:blip r:embed="rId2"/>
            <a:stretch>
              <a:fillRect/>
            </a:stretch>
          </a:blipFill>
        </p:spPr>
        <p:txBody>
          <a:bodyPr/>
          <a:lstStyle/>
          <a:p>
            <a:endParaRPr lang="en-US"/>
          </a:p>
        </p:txBody>
      </p:sp>
      <p:sp>
        <p:nvSpPr>
          <p:cNvPr id="13" name="TextBox 13"/>
          <p:cNvSpPr txBox="1"/>
          <p:nvPr/>
        </p:nvSpPr>
        <p:spPr>
          <a:xfrm>
            <a:off x="1837834" y="6749299"/>
            <a:ext cx="12776964" cy="666849"/>
          </a:xfrm>
          <a:prstGeom prst="rect">
            <a:avLst/>
          </a:prstGeom>
        </p:spPr>
        <p:txBody>
          <a:bodyPr lIns="0" tIns="0" rIns="0" bIns="0" rtlCol="0" anchor="t">
            <a:spAutoFit/>
          </a:bodyPr>
          <a:lstStyle/>
          <a:p>
            <a:pPr algn="l">
              <a:lnSpc>
                <a:spcPts val="2638"/>
              </a:lnSpc>
              <a:spcBef>
                <a:spcPct val="0"/>
              </a:spcBef>
            </a:pPr>
            <a:r>
              <a:rPr lang="en-US" sz="2800" dirty="0">
                <a:solidFill>
                  <a:srgbClr val="FFFFFF"/>
                </a:solidFill>
                <a:latin typeface="Arimo"/>
                <a:ea typeface="Arimo"/>
                <a:cs typeface="Arimo"/>
                <a:sym typeface="Arimo"/>
              </a:rPr>
              <a:t>This in-memory data store provides sub-millisecond latency for frequently accessed dynamic data.</a:t>
            </a:r>
          </a:p>
        </p:txBody>
      </p:sp>
      <p:sp>
        <p:nvSpPr>
          <p:cNvPr id="14" name="TextBox 14"/>
          <p:cNvSpPr txBox="1"/>
          <p:nvPr/>
        </p:nvSpPr>
        <p:spPr>
          <a:xfrm>
            <a:off x="1837834" y="7483229"/>
            <a:ext cx="13247402" cy="2638992"/>
          </a:xfrm>
          <a:prstGeom prst="rect">
            <a:avLst/>
          </a:prstGeom>
        </p:spPr>
        <p:txBody>
          <a:bodyPr lIns="0" tIns="0" rIns="0" bIns="0" rtlCol="0" anchor="t">
            <a:spAutoFit/>
          </a:bodyPr>
          <a:lstStyle/>
          <a:p>
            <a:pPr marL="406940" lvl="1" indent="-203470" algn="ctr">
              <a:lnSpc>
                <a:spcPts val="2638"/>
              </a:lnSpc>
              <a:buFont typeface="Arial"/>
              <a:buChar char="•"/>
            </a:pPr>
            <a:r>
              <a:rPr lang="en-US" sz="2400" b="1" dirty="0">
                <a:solidFill>
                  <a:srgbClr val="FFFFFF"/>
                </a:solidFill>
                <a:latin typeface="Arimo"/>
                <a:ea typeface="Arimo"/>
                <a:cs typeface="Arimo"/>
                <a:sym typeface="Arimo"/>
              </a:rPr>
              <a:t>Safe Data to Cache: </a:t>
            </a:r>
            <a:r>
              <a:rPr lang="en-US" sz="2400" dirty="0">
                <a:solidFill>
                  <a:srgbClr val="FFFFFF"/>
                </a:solidFill>
                <a:latin typeface="Arimo"/>
                <a:ea typeface="Arimo"/>
                <a:cs typeface="Arimo"/>
                <a:sym typeface="Arimo"/>
              </a:rPr>
              <a:t>Product details (excluding sensitive fields), category lists, and search filters are ideal for caching. </a:t>
            </a:r>
          </a:p>
          <a:p>
            <a:pPr marL="406940" lvl="1" indent="-203470" algn="l">
              <a:lnSpc>
                <a:spcPts val="2638"/>
              </a:lnSpc>
              <a:buFont typeface="Arial"/>
              <a:buChar char="•"/>
            </a:pPr>
            <a:r>
              <a:rPr lang="en-US" sz="2400" dirty="0">
                <a:solidFill>
                  <a:srgbClr val="FFFFFF"/>
                </a:solidFill>
                <a:latin typeface="Arimo"/>
                <a:ea typeface="Arimo"/>
                <a:cs typeface="Arimo"/>
                <a:sym typeface="Arimo"/>
              </a:rPr>
              <a:t>   </a:t>
            </a:r>
            <a:r>
              <a:rPr lang="en-US" sz="2400" b="1" dirty="0">
                <a:solidFill>
                  <a:srgbClr val="FFFFFF"/>
                </a:solidFill>
                <a:latin typeface="Arimo"/>
                <a:ea typeface="Arimo"/>
                <a:cs typeface="Arimo"/>
                <a:sym typeface="Arimo"/>
              </a:rPr>
              <a:t> TTL Recommendations</a:t>
            </a:r>
            <a:r>
              <a:rPr lang="en-US" sz="2400" dirty="0">
                <a:solidFill>
                  <a:srgbClr val="FFFFFF"/>
                </a:solidFill>
                <a:latin typeface="Arimo"/>
                <a:ea typeface="Arimo"/>
                <a:cs typeface="Arimo"/>
                <a:sym typeface="Arimo"/>
              </a:rPr>
              <a:t>: Use 5 minutes for product details, 1 minute for inventory displays (for the listing page), and 1 hour for category lists. </a:t>
            </a:r>
          </a:p>
          <a:p>
            <a:pPr marL="406940" lvl="1" indent="-203470" algn="l">
              <a:lnSpc>
                <a:spcPts val="2638"/>
              </a:lnSpc>
              <a:buFont typeface="Arial"/>
              <a:buChar char="•"/>
            </a:pPr>
            <a:r>
              <a:rPr lang="en-US" sz="2400" dirty="0">
                <a:solidFill>
                  <a:srgbClr val="FFFFFF"/>
                </a:solidFill>
                <a:latin typeface="Arimo"/>
                <a:ea typeface="Arimo"/>
                <a:cs typeface="Arimo"/>
                <a:sym typeface="Arimo"/>
              </a:rPr>
              <a:t>    </a:t>
            </a:r>
            <a:r>
              <a:rPr lang="en-US" sz="2400" b="1" dirty="0">
                <a:solidFill>
                  <a:srgbClr val="FFFFFF"/>
                </a:solidFill>
                <a:latin typeface="Arimo"/>
                <a:ea typeface="Arimo"/>
                <a:cs typeface="Arimo"/>
                <a:sym typeface="Arimo"/>
              </a:rPr>
              <a:t>Correctness: </a:t>
            </a:r>
            <a:r>
              <a:rPr lang="en-US" sz="2400" dirty="0">
                <a:solidFill>
                  <a:srgbClr val="FFFFFF"/>
                </a:solidFill>
                <a:latin typeface="Arimo"/>
                <a:ea typeface="Arimo"/>
                <a:cs typeface="Arimo"/>
                <a:sym typeface="Arimo"/>
              </a:rPr>
              <a:t>To prevent stale data from breaking checkout, the checkout workflow must bypass the cache and interact directly with the primary database for current inventory and pricing. </a:t>
            </a:r>
          </a:p>
          <a:p>
            <a:pPr algn="l">
              <a:lnSpc>
                <a:spcPts val="2638"/>
              </a:lnSpc>
              <a:spcBef>
                <a:spcPct val="0"/>
              </a:spcBef>
            </a:pPr>
            <a:endParaRPr lang="en-US" sz="1884" dirty="0">
              <a:solidFill>
                <a:srgbClr val="FFFFFF"/>
              </a:solidFill>
              <a:latin typeface="Arimo"/>
              <a:ea typeface="Arimo"/>
              <a:cs typeface="Arimo"/>
              <a:sym typeface="Arimo"/>
            </a:endParaRPr>
          </a:p>
        </p:txBody>
      </p:sp>
      <p:sp>
        <p:nvSpPr>
          <p:cNvPr id="15" name="Freeform 15"/>
          <p:cNvSpPr/>
          <p:nvPr/>
        </p:nvSpPr>
        <p:spPr>
          <a:xfrm rot="-6719697">
            <a:off x="-4831757" y="-6568521"/>
            <a:ext cx="10951759" cy="10528031"/>
          </a:xfrm>
          <a:custGeom>
            <a:avLst/>
            <a:gdLst/>
            <a:ahLst/>
            <a:cxnLst/>
            <a:rect l="l" t="t" r="r" b="b"/>
            <a:pathLst>
              <a:path w="10951759" h="10528031">
                <a:moveTo>
                  <a:pt x="0" y="0"/>
                </a:moveTo>
                <a:lnTo>
                  <a:pt x="10951760" y="0"/>
                </a:lnTo>
                <a:lnTo>
                  <a:pt x="10951760" y="10528031"/>
                </a:lnTo>
                <a:lnTo>
                  <a:pt x="0" y="10528031"/>
                </a:lnTo>
                <a:lnTo>
                  <a:pt x="0" y="0"/>
                </a:lnTo>
                <a:close/>
              </a:path>
            </a:pathLst>
          </a:custGeom>
          <a:blipFill>
            <a:blip r:embed="rId3"/>
            <a:stretch>
              <a:fillRect/>
            </a:stretch>
          </a:blipFill>
        </p:spPr>
        <p:txBody>
          <a:bodyPr/>
          <a:lstStyle/>
          <a:p>
            <a:endParaRPr lang="en-US"/>
          </a:p>
        </p:txBody>
      </p:sp>
      <p:sp>
        <p:nvSpPr>
          <p:cNvPr id="16" name="TextBox 16"/>
          <p:cNvSpPr txBox="1"/>
          <p:nvPr/>
        </p:nvSpPr>
        <p:spPr>
          <a:xfrm>
            <a:off x="1028700" y="876300"/>
            <a:ext cx="16230600" cy="1368424"/>
          </a:xfrm>
          <a:prstGeom prst="rect">
            <a:avLst/>
          </a:prstGeom>
        </p:spPr>
        <p:txBody>
          <a:bodyPr lIns="0" tIns="0" rIns="0" bIns="0" rtlCol="0" anchor="t">
            <a:spAutoFit/>
          </a:bodyPr>
          <a:lstStyle/>
          <a:p>
            <a:pPr algn="r">
              <a:lnSpc>
                <a:spcPts val="11200"/>
              </a:lnSpc>
              <a:spcBef>
                <a:spcPct val="0"/>
              </a:spcBef>
            </a:pPr>
            <a:r>
              <a:rPr lang="en-US" sz="8000" b="1">
                <a:solidFill>
                  <a:srgbClr val="FFFFFF"/>
                </a:solidFill>
                <a:latin typeface="Montserrat Bold"/>
                <a:ea typeface="Montserrat Bold"/>
                <a:cs typeface="Montserrat Bold"/>
                <a:sym typeface="Montserrat Bold"/>
              </a:rPr>
              <a:t>Cache Design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Freeform 2"/>
          <p:cNvSpPr/>
          <p:nvPr/>
        </p:nvSpPr>
        <p:spPr>
          <a:xfrm>
            <a:off x="-3879785" y="-5108842"/>
            <a:ext cx="7331202" cy="8229600"/>
          </a:xfrm>
          <a:custGeom>
            <a:avLst/>
            <a:gdLst/>
            <a:ahLst/>
            <a:cxnLst/>
            <a:rect l="l" t="t" r="r" b="b"/>
            <a:pathLst>
              <a:path w="7331202" h="8229600">
                <a:moveTo>
                  <a:pt x="0" y="0"/>
                </a:moveTo>
                <a:lnTo>
                  <a:pt x="7331202" y="0"/>
                </a:lnTo>
                <a:lnTo>
                  <a:pt x="7331202" y="8229600"/>
                </a:lnTo>
                <a:lnTo>
                  <a:pt x="0" y="8229600"/>
                </a:lnTo>
                <a:lnTo>
                  <a:pt x="0" y="0"/>
                </a:lnTo>
                <a:close/>
              </a:path>
            </a:pathLst>
          </a:custGeom>
          <a:blipFill>
            <a:blip r:embed="rId2"/>
            <a:stretch>
              <a:fillRect/>
            </a:stretch>
          </a:blipFill>
        </p:spPr>
        <p:txBody>
          <a:bodyPr/>
          <a:lstStyle/>
          <a:p>
            <a:endParaRPr lang="en-US"/>
          </a:p>
        </p:txBody>
      </p:sp>
      <p:sp>
        <p:nvSpPr>
          <p:cNvPr id="3" name="Freeform 3"/>
          <p:cNvSpPr/>
          <p:nvPr/>
        </p:nvSpPr>
        <p:spPr>
          <a:xfrm>
            <a:off x="0" y="2762564"/>
            <a:ext cx="19153242" cy="10773699"/>
          </a:xfrm>
          <a:custGeom>
            <a:avLst/>
            <a:gdLst/>
            <a:ahLst/>
            <a:cxnLst/>
            <a:rect l="l" t="t" r="r" b="b"/>
            <a:pathLst>
              <a:path w="19153242" h="10773699">
                <a:moveTo>
                  <a:pt x="0" y="0"/>
                </a:moveTo>
                <a:lnTo>
                  <a:pt x="19153242" y="0"/>
                </a:lnTo>
                <a:lnTo>
                  <a:pt x="19153242" y="10773699"/>
                </a:lnTo>
                <a:lnTo>
                  <a:pt x="0" y="10773699"/>
                </a:lnTo>
                <a:lnTo>
                  <a:pt x="0" y="0"/>
                </a:lnTo>
                <a:close/>
              </a:path>
            </a:pathLst>
          </a:custGeom>
          <a:blipFill>
            <a:blip r:embed="rId3"/>
            <a:stretch>
              <a:fillRect/>
            </a:stretch>
          </a:blipFill>
        </p:spPr>
        <p:txBody>
          <a:bodyPr/>
          <a:lstStyle/>
          <a:p>
            <a:endParaRPr lang="en-US"/>
          </a:p>
        </p:txBody>
      </p:sp>
      <p:sp>
        <p:nvSpPr>
          <p:cNvPr id="4" name="TextBox 4"/>
          <p:cNvSpPr txBox="1"/>
          <p:nvPr/>
        </p:nvSpPr>
        <p:spPr>
          <a:xfrm>
            <a:off x="1028700" y="876300"/>
            <a:ext cx="16230600" cy="1248355"/>
          </a:xfrm>
          <a:prstGeom prst="rect">
            <a:avLst/>
          </a:prstGeom>
        </p:spPr>
        <p:txBody>
          <a:bodyPr lIns="0" tIns="0" rIns="0" bIns="0" rtlCol="0" anchor="t">
            <a:spAutoFit/>
          </a:bodyPr>
          <a:lstStyle/>
          <a:p>
            <a:pPr algn="ctr">
              <a:lnSpc>
                <a:spcPts val="11200"/>
              </a:lnSpc>
              <a:spcBef>
                <a:spcPct val="0"/>
              </a:spcBef>
            </a:pPr>
            <a:r>
              <a:rPr lang="en-US" sz="5400" b="1" dirty="0">
                <a:solidFill>
                  <a:srgbClr val="FFFFFF"/>
                </a:solidFill>
                <a:latin typeface="Montserrat Bold"/>
                <a:ea typeface="Montserrat Bold"/>
                <a:cs typeface="Montserrat Bold"/>
                <a:sym typeface="Montserrat Bold"/>
              </a:rPr>
              <a:t>End-to-End Request Flow Narrative</a:t>
            </a:r>
          </a:p>
        </p:txBody>
      </p:sp>
      <p:sp>
        <p:nvSpPr>
          <p:cNvPr id="5" name="TextBox 5"/>
          <p:cNvSpPr txBox="1"/>
          <p:nvPr/>
        </p:nvSpPr>
        <p:spPr>
          <a:xfrm>
            <a:off x="1039586" y="2757121"/>
            <a:ext cx="16230600" cy="6501267"/>
          </a:xfrm>
          <a:prstGeom prst="rect">
            <a:avLst/>
          </a:prstGeom>
        </p:spPr>
        <p:txBody>
          <a:bodyPr lIns="0" tIns="0" rIns="0" bIns="0" rtlCol="0" anchor="t">
            <a:spAutoFit/>
          </a:bodyPr>
          <a:lstStyle/>
          <a:p>
            <a:pPr algn="ctr">
              <a:lnSpc>
                <a:spcPts val="3359"/>
              </a:lnSpc>
            </a:pPr>
            <a:r>
              <a:rPr lang="en-US" sz="2400" dirty="0">
                <a:solidFill>
                  <a:srgbClr val="FFFFFF"/>
                </a:solidFill>
                <a:latin typeface="Arimo"/>
                <a:ea typeface="Arimo"/>
                <a:cs typeface="Arimo"/>
                <a:sym typeface="Arimo"/>
              </a:rPr>
              <a:t> </a:t>
            </a:r>
            <a:r>
              <a:rPr lang="en-US" sz="2800" dirty="0">
                <a:solidFill>
                  <a:srgbClr val="FFFFFF"/>
                </a:solidFill>
                <a:latin typeface="Arimo"/>
                <a:ea typeface="Arimo"/>
                <a:cs typeface="Arimo"/>
                <a:sym typeface="Arimo"/>
              </a:rPr>
              <a:t>1. Homepage Visit: A user in Europe enters dealdrop.com. Amazon Route 53 resolves the domain to the nearest CloudFront Edge Location. Static files like the logo and CSS are served directly from the edge cache. </a:t>
            </a:r>
          </a:p>
          <a:p>
            <a:pPr algn="ctr">
              <a:lnSpc>
                <a:spcPts val="3359"/>
              </a:lnSpc>
            </a:pPr>
            <a:endParaRPr lang="en-US" sz="2800" dirty="0">
              <a:solidFill>
                <a:srgbClr val="FFFFFF"/>
              </a:solidFill>
              <a:latin typeface="Arimo"/>
              <a:ea typeface="Arimo"/>
              <a:cs typeface="Arimo"/>
              <a:sym typeface="Arimo"/>
            </a:endParaRPr>
          </a:p>
          <a:p>
            <a:pPr algn="ctr">
              <a:lnSpc>
                <a:spcPts val="3359"/>
              </a:lnSpc>
            </a:pPr>
            <a:r>
              <a:rPr lang="en-US" sz="2800" dirty="0">
                <a:solidFill>
                  <a:srgbClr val="FFFFFF"/>
                </a:solidFill>
                <a:latin typeface="Arimo"/>
                <a:ea typeface="Arimo"/>
                <a:cs typeface="Arimo"/>
                <a:sym typeface="Arimo"/>
              </a:rPr>
              <a:t>2. Product Detail Page: The user clicks a product. The request goes through the ALB to an EC2 instance. The application checks </a:t>
            </a:r>
            <a:r>
              <a:rPr lang="en-US" sz="2800" dirty="0" err="1">
                <a:solidFill>
                  <a:srgbClr val="FFFFFF"/>
                </a:solidFill>
                <a:latin typeface="Arimo"/>
                <a:ea typeface="Arimo"/>
                <a:cs typeface="Arimo"/>
                <a:sym typeface="Arimo"/>
              </a:rPr>
              <a:t>ElastiCache</a:t>
            </a:r>
            <a:r>
              <a:rPr lang="en-US" sz="2800" dirty="0">
                <a:solidFill>
                  <a:srgbClr val="FFFFFF"/>
                </a:solidFill>
                <a:latin typeface="Arimo"/>
                <a:ea typeface="Arimo"/>
                <a:cs typeface="Arimo"/>
                <a:sym typeface="Arimo"/>
              </a:rPr>
              <a:t> (Redis) for the product details. If found (cache hit), the page loads instantly; if not (cache miss), the app fetches it from the database and updates the cache. </a:t>
            </a:r>
          </a:p>
          <a:p>
            <a:pPr algn="ctr">
              <a:lnSpc>
                <a:spcPts val="3359"/>
              </a:lnSpc>
            </a:pPr>
            <a:endParaRPr lang="en-US" sz="2800" dirty="0">
              <a:solidFill>
                <a:srgbClr val="FFFFFF"/>
              </a:solidFill>
              <a:latin typeface="Arimo"/>
              <a:ea typeface="Arimo"/>
              <a:cs typeface="Arimo"/>
              <a:sym typeface="Arimo"/>
            </a:endParaRPr>
          </a:p>
          <a:p>
            <a:pPr algn="ctr">
              <a:lnSpc>
                <a:spcPts val="3359"/>
              </a:lnSpc>
              <a:spcBef>
                <a:spcPct val="0"/>
              </a:spcBef>
            </a:pPr>
            <a:r>
              <a:rPr lang="en-US" sz="2800" dirty="0">
                <a:solidFill>
                  <a:srgbClr val="FFFFFF"/>
                </a:solidFill>
                <a:latin typeface="Arimo"/>
                <a:ea typeface="Arimo"/>
                <a:cs typeface="Arimo"/>
                <a:sym typeface="Arimo"/>
              </a:rPr>
              <a:t>3. Add to Cart: The user adds an item. This request hits the EC2 application layer to manage the shopping cart session; this personal data is never cached for security. </a:t>
            </a:r>
          </a:p>
          <a:p>
            <a:pPr algn="ctr">
              <a:lnSpc>
                <a:spcPts val="3359"/>
              </a:lnSpc>
              <a:spcBef>
                <a:spcPct val="0"/>
              </a:spcBef>
            </a:pPr>
            <a:endParaRPr lang="en-US" sz="2800" dirty="0">
              <a:solidFill>
                <a:srgbClr val="FFFFFF"/>
              </a:solidFill>
              <a:latin typeface="Arimo"/>
              <a:ea typeface="Arimo"/>
              <a:cs typeface="Arimo"/>
              <a:sym typeface="Arimo"/>
            </a:endParaRPr>
          </a:p>
          <a:p>
            <a:pPr algn="ctr">
              <a:lnSpc>
                <a:spcPts val="3359"/>
              </a:lnSpc>
              <a:spcBef>
                <a:spcPct val="0"/>
              </a:spcBef>
            </a:pPr>
            <a:r>
              <a:rPr lang="en-US" sz="2800" dirty="0">
                <a:solidFill>
                  <a:srgbClr val="FFFFFF"/>
                </a:solidFill>
                <a:latin typeface="Arimo"/>
                <a:ea typeface="Arimo"/>
                <a:cs typeface="Arimo"/>
                <a:sym typeface="Arimo"/>
              </a:rPr>
              <a:t>4. Checkout: The user clicks checkout. The application bypasses all caches to ensure it uses the most current pricing and inventory counts from Amazon RDS. The EC2 instance confirms payment with an external service and records the transaction in the strongly consistent database. </a:t>
            </a:r>
          </a:p>
          <a:p>
            <a:pPr algn="ctr">
              <a:lnSpc>
                <a:spcPts val="3359"/>
              </a:lnSpc>
              <a:spcBef>
                <a:spcPct val="0"/>
              </a:spcBef>
            </a:pPr>
            <a:endParaRPr lang="en-US" sz="2400" dirty="0">
              <a:solidFill>
                <a:srgbClr val="FFFFFF"/>
              </a:solidFill>
              <a:latin typeface="Arimo"/>
              <a:ea typeface="Arimo"/>
              <a:cs typeface="Arimo"/>
              <a:sym typeface="Arimo"/>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Freeform 2"/>
          <p:cNvSpPr/>
          <p:nvPr/>
        </p:nvSpPr>
        <p:spPr>
          <a:xfrm flipH="1">
            <a:off x="-1982099" y="6034645"/>
            <a:ext cx="12058365" cy="12560797"/>
          </a:xfrm>
          <a:custGeom>
            <a:avLst/>
            <a:gdLst/>
            <a:ahLst/>
            <a:cxnLst/>
            <a:rect l="l" t="t" r="r" b="b"/>
            <a:pathLst>
              <a:path w="12058365" h="12560797">
                <a:moveTo>
                  <a:pt x="12058365" y="0"/>
                </a:moveTo>
                <a:lnTo>
                  <a:pt x="0" y="0"/>
                </a:lnTo>
                <a:lnTo>
                  <a:pt x="0" y="12560797"/>
                </a:lnTo>
                <a:lnTo>
                  <a:pt x="12058365" y="12560797"/>
                </a:lnTo>
                <a:lnTo>
                  <a:pt x="12058365" y="0"/>
                </a:lnTo>
                <a:close/>
              </a:path>
            </a:pathLst>
          </a:custGeom>
          <a:blipFill>
            <a:blip r:embed="rId2"/>
            <a:stretch>
              <a:fillRect/>
            </a:stretch>
          </a:blipFill>
        </p:spPr>
        <p:txBody>
          <a:bodyPr/>
          <a:lstStyle/>
          <a:p>
            <a:endParaRPr lang="en-US"/>
          </a:p>
        </p:txBody>
      </p:sp>
      <p:sp>
        <p:nvSpPr>
          <p:cNvPr id="3" name="Freeform 3"/>
          <p:cNvSpPr/>
          <p:nvPr/>
        </p:nvSpPr>
        <p:spPr>
          <a:xfrm flipV="1">
            <a:off x="8211734" y="-5251698"/>
            <a:ext cx="12058365" cy="12560797"/>
          </a:xfrm>
          <a:custGeom>
            <a:avLst/>
            <a:gdLst/>
            <a:ahLst/>
            <a:cxnLst/>
            <a:rect l="l" t="t" r="r" b="b"/>
            <a:pathLst>
              <a:path w="12058365" h="12560797">
                <a:moveTo>
                  <a:pt x="0" y="12560796"/>
                </a:moveTo>
                <a:lnTo>
                  <a:pt x="12058365" y="12560796"/>
                </a:lnTo>
                <a:lnTo>
                  <a:pt x="12058365" y="0"/>
                </a:lnTo>
                <a:lnTo>
                  <a:pt x="0" y="0"/>
                </a:lnTo>
                <a:lnTo>
                  <a:pt x="0" y="12560796"/>
                </a:lnTo>
                <a:close/>
              </a:path>
            </a:pathLst>
          </a:custGeom>
          <a:blipFill>
            <a:blip r:embed="rId2"/>
            <a:stretch>
              <a:fillRect/>
            </a:stretch>
          </a:blipFill>
        </p:spPr>
        <p:txBody>
          <a:bodyPr/>
          <a:lstStyle/>
          <a:p>
            <a:endParaRPr lang="en-US"/>
          </a:p>
        </p:txBody>
      </p:sp>
      <p:sp>
        <p:nvSpPr>
          <p:cNvPr id="4" name="Freeform 4"/>
          <p:cNvSpPr/>
          <p:nvPr/>
        </p:nvSpPr>
        <p:spPr>
          <a:xfrm>
            <a:off x="-1920632" y="-5984876"/>
            <a:ext cx="8560822" cy="8229600"/>
          </a:xfrm>
          <a:custGeom>
            <a:avLst/>
            <a:gdLst/>
            <a:ahLst/>
            <a:cxnLst/>
            <a:rect l="l" t="t" r="r" b="b"/>
            <a:pathLst>
              <a:path w="8560822" h="8229600">
                <a:moveTo>
                  <a:pt x="0" y="0"/>
                </a:moveTo>
                <a:lnTo>
                  <a:pt x="8560822" y="0"/>
                </a:lnTo>
                <a:lnTo>
                  <a:pt x="8560822" y="8229600"/>
                </a:lnTo>
                <a:lnTo>
                  <a:pt x="0" y="8229600"/>
                </a:lnTo>
                <a:lnTo>
                  <a:pt x="0" y="0"/>
                </a:lnTo>
                <a:close/>
              </a:path>
            </a:pathLst>
          </a:custGeom>
          <a:blipFill>
            <a:blip r:embed="rId3"/>
            <a:stretch>
              <a:fillRect/>
            </a:stretch>
          </a:blipFill>
        </p:spPr>
        <p:txBody>
          <a:bodyPr/>
          <a:lstStyle/>
          <a:p>
            <a:endParaRPr lang="en-US"/>
          </a:p>
        </p:txBody>
      </p:sp>
      <p:grpSp>
        <p:nvGrpSpPr>
          <p:cNvPr id="5" name="Group 5"/>
          <p:cNvGrpSpPr/>
          <p:nvPr/>
        </p:nvGrpSpPr>
        <p:grpSpPr>
          <a:xfrm>
            <a:off x="1700598" y="1451021"/>
            <a:ext cx="3633723" cy="2766547"/>
            <a:chOff x="0" y="0"/>
            <a:chExt cx="4844964" cy="3688730"/>
          </a:xfrm>
        </p:grpSpPr>
        <p:sp>
          <p:nvSpPr>
            <p:cNvPr id="6" name="Freeform 6"/>
            <p:cNvSpPr/>
            <p:nvPr/>
          </p:nvSpPr>
          <p:spPr>
            <a:xfrm>
              <a:off x="0" y="0"/>
              <a:ext cx="4844964" cy="3688730"/>
            </a:xfrm>
            <a:custGeom>
              <a:avLst/>
              <a:gdLst/>
              <a:ahLst/>
              <a:cxnLst/>
              <a:rect l="l" t="t" r="r" b="b"/>
              <a:pathLst>
                <a:path w="4844964" h="3688730">
                  <a:moveTo>
                    <a:pt x="0" y="0"/>
                  </a:moveTo>
                  <a:lnTo>
                    <a:pt x="4844964" y="0"/>
                  </a:lnTo>
                  <a:lnTo>
                    <a:pt x="4844964" y="3688730"/>
                  </a:lnTo>
                  <a:lnTo>
                    <a:pt x="0" y="3688730"/>
                  </a:lnTo>
                  <a:lnTo>
                    <a:pt x="0" y="0"/>
                  </a:lnTo>
                  <a:close/>
                </a:path>
              </a:pathLst>
            </a:custGeom>
            <a:blipFill>
              <a:blip r:embed="rId4"/>
              <a:stretch>
                <a:fillRect l="-9134" r="-9134"/>
              </a:stretch>
            </a:blipFill>
          </p:spPr>
          <p:txBody>
            <a:bodyPr/>
            <a:lstStyle/>
            <a:p>
              <a:endParaRPr lang="en-US"/>
            </a:p>
          </p:txBody>
        </p:sp>
        <p:sp>
          <p:nvSpPr>
            <p:cNvPr id="7" name="TextBox 7"/>
            <p:cNvSpPr txBox="1"/>
            <p:nvPr/>
          </p:nvSpPr>
          <p:spPr>
            <a:xfrm>
              <a:off x="311726" y="65347"/>
              <a:ext cx="4221513" cy="508706"/>
            </a:xfrm>
            <a:prstGeom prst="rect">
              <a:avLst/>
            </a:prstGeom>
          </p:spPr>
          <p:txBody>
            <a:bodyPr lIns="0" tIns="0" rIns="0" bIns="0" rtlCol="0" anchor="t">
              <a:spAutoFit/>
            </a:bodyPr>
            <a:lstStyle/>
            <a:p>
              <a:pPr algn="l">
                <a:lnSpc>
                  <a:spcPts val="3204"/>
                </a:lnSpc>
                <a:spcBef>
                  <a:spcPct val="0"/>
                </a:spcBef>
              </a:pPr>
              <a:r>
                <a:rPr lang="en-US" sz="2288" b="1">
                  <a:solidFill>
                    <a:srgbClr val="EF761E"/>
                  </a:solidFill>
                  <a:latin typeface="Montserrat Bold"/>
                  <a:ea typeface="Montserrat Bold"/>
                  <a:cs typeface="Montserrat Bold"/>
                  <a:sym typeface="Montserrat Bold"/>
                </a:rPr>
                <a:t>CPUUtilization (EC2)</a:t>
              </a:r>
            </a:p>
          </p:txBody>
        </p:sp>
        <p:sp>
          <p:nvSpPr>
            <p:cNvPr id="8" name="TextBox 8"/>
            <p:cNvSpPr txBox="1"/>
            <p:nvPr/>
          </p:nvSpPr>
          <p:spPr>
            <a:xfrm>
              <a:off x="311726" y="1767678"/>
              <a:ext cx="4221513" cy="1461944"/>
            </a:xfrm>
            <a:prstGeom prst="rect">
              <a:avLst/>
            </a:prstGeom>
          </p:spPr>
          <p:txBody>
            <a:bodyPr lIns="0" tIns="0" rIns="0" bIns="0" rtlCol="0" anchor="t">
              <a:spAutoFit/>
            </a:bodyPr>
            <a:lstStyle/>
            <a:p>
              <a:pPr algn="l">
                <a:lnSpc>
                  <a:spcPts val="2959"/>
                </a:lnSpc>
                <a:spcBef>
                  <a:spcPct val="0"/>
                </a:spcBef>
              </a:pPr>
              <a:r>
                <a:rPr lang="en-US" sz="2113">
                  <a:solidFill>
                    <a:srgbClr val="FFFFFF"/>
                  </a:solidFill>
                  <a:latin typeface="Arimo"/>
                  <a:ea typeface="Arimo"/>
                  <a:cs typeface="Arimo"/>
                  <a:sym typeface="Arimo"/>
                </a:rPr>
                <a:t>To signal when the ASG needs to scale out. </a:t>
              </a:r>
            </a:p>
            <a:p>
              <a:pPr algn="l">
                <a:lnSpc>
                  <a:spcPts val="2959"/>
                </a:lnSpc>
                <a:spcBef>
                  <a:spcPct val="0"/>
                </a:spcBef>
              </a:pPr>
              <a:endParaRPr lang="en-US" sz="2113">
                <a:solidFill>
                  <a:srgbClr val="FFFFFF"/>
                </a:solidFill>
                <a:latin typeface="Arimo"/>
                <a:ea typeface="Arimo"/>
                <a:cs typeface="Arimo"/>
                <a:sym typeface="Arimo"/>
              </a:endParaRPr>
            </a:p>
          </p:txBody>
        </p:sp>
      </p:grpSp>
      <p:sp>
        <p:nvSpPr>
          <p:cNvPr id="9" name="TextBox 9"/>
          <p:cNvSpPr txBox="1"/>
          <p:nvPr/>
        </p:nvSpPr>
        <p:spPr>
          <a:xfrm>
            <a:off x="6150547" y="354013"/>
            <a:ext cx="11415259" cy="1282699"/>
          </a:xfrm>
          <a:prstGeom prst="rect">
            <a:avLst/>
          </a:prstGeom>
        </p:spPr>
        <p:txBody>
          <a:bodyPr lIns="0" tIns="0" rIns="0" bIns="0" rtlCol="0" anchor="t">
            <a:spAutoFit/>
          </a:bodyPr>
          <a:lstStyle/>
          <a:p>
            <a:pPr algn="r">
              <a:lnSpc>
                <a:spcPts val="5168"/>
              </a:lnSpc>
              <a:spcBef>
                <a:spcPct val="0"/>
              </a:spcBef>
            </a:pPr>
            <a:r>
              <a:rPr lang="en-US" sz="3691" b="1">
                <a:solidFill>
                  <a:srgbClr val="FFFFFF"/>
                </a:solidFill>
                <a:latin typeface="Montserrat Bold"/>
                <a:ea typeface="Montserrat Bold"/>
                <a:cs typeface="Montserrat Bold"/>
                <a:sym typeface="Montserrat Bold"/>
              </a:rPr>
              <a:t>Observability and Operations </a:t>
            </a:r>
          </a:p>
          <a:p>
            <a:pPr algn="r">
              <a:lnSpc>
                <a:spcPts val="5168"/>
              </a:lnSpc>
              <a:spcBef>
                <a:spcPct val="0"/>
              </a:spcBef>
            </a:pPr>
            <a:endParaRPr lang="en-US" sz="3691" b="1">
              <a:solidFill>
                <a:srgbClr val="FFFFFF"/>
              </a:solidFill>
              <a:latin typeface="Montserrat Bold"/>
              <a:ea typeface="Montserrat Bold"/>
              <a:cs typeface="Montserrat Bold"/>
              <a:sym typeface="Montserrat Bold"/>
            </a:endParaRPr>
          </a:p>
        </p:txBody>
      </p:sp>
      <p:grpSp>
        <p:nvGrpSpPr>
          <p:cNvPr id="10" name="Group 10"/>
          <p:cNvGrpSpPr/>
          <p:nvPr/>
        </p:nvGrpSpPr>
        <p:grpSpPr>
          <a:xfrm>
            <a:off x="7062326" y="1636712"/>
            <a:ext cx="3633723" cy="2395164"/>
            <a:chOff x="0" y="0"/>
            <a:chExt cx="4844964" cy="3193552"/>
          </a:xfrm>
        </p:grpSpPr>
        <p:sp>
          <p:nvSpPr>
            <p:cNvPr id="11" name="Freeform 11"/>
            <p:cNvSpPr/>
            <p:nvPr/>
          </p:nvSpPr>
          <p:spPr>
            <a:xfrm>
              <a:off x="0" y="0"/>
              <a:ext cx="4844964" cy="3193552"/>
            </a:xfrm>
            <a:custGeom>
              <a:avLst/>
              <a:gdLst/>
              <a:ahLst/>
              <a:cxnLst/>
              <a:rect l="l" t="t" r="r" b="b"/>
              <a:pathLst>
                <a:path w="4844964" h="3193552">
                  <a:moveTo>
                    <a:pt x="0" y="0"/>
                  </a:moveTo>
                  <a:lnTo>
                    <a:pt x="4844964" y="0"/>
                  </a:lnTo>
                  <a:lnTo>
                    <a:pt x="4844964" y="3193552"/>
                  </a:lnTo>
                  <a:lnTo>
                    <a:pt x="0" y="3193552"/>
                  </a:lnTo>
                  <a:lnTo>
                    <a:pt x="0" y="0"/>
                  </a:lnTo>
                  <a:close/>
                </a:path>
              </a:pathLst>
            </a:custGeom>
            <a:blipFill>
              <a:blip r:embed="rId4"/>
              <a:stretch>
                <a:fillRect l="-1196" r="-1196"/>
              </a:stretch>
            </a:blipFill>
          </p:spPr>
          <p:txBody>
            <a:bodyPr/>
            <a:lstStyle/>
            <a:p>
              <a:endParaRPr lang="en-US"/>
            </a:p>
          </p:txBody>
        </p:sp>
        <p:sp>
          <p:nvSpPr>
            <p:cNvPr id="12" name="TextBox 12"/>
            <p:cNvSpPr txBox="1"/>
            <p:nvPr/>
          </p:nvSpPr>
          <p:spPr>
            <a:xfrm>
              <a:off x="311726" y="216752"/>
              <a:ext cx="4221513" cy="508706"/>
            </a:xfrm>
            <a:prstGeom prst="rect">
              <a:avLst/>
            </a:prstGeom>
          </p:spPr>
          <p:txBody>
            <a:bodyPr lIns="0" tIns="0" rIns="0" bIns="0" rtlCol="0" anchor="t">
              <a:spAutoFit/>
            </a:bodyPr>
            <a:lstStyle/>
            <a:p>
              <a:pPr algn="l">
                <a:lnSpc>
                  <a:spcPts val="3204"/>
                </a:lnSpc>
                <a:spcBef>
                  <a:spcPct val="0"/>
                </a:spcBef>
              </a:pPr>
              <a:r>
                <a:rPr lang="en-US" sz="2288" b="1">
                  <a:solidFill>
                    <a:srgbClr val="EF761E"/>
                  </a:solidFill>
                  <a:latin typeface="Montserrat Bold"/>
                  <a:ea typeface="Montserrat Bold"/>
                  <a:cs typeface="Montserrat Bold"/>
                  <a:sym typeface="Montserrat Bold"/>
                </a:rPr>
                <a:t>RequestCount (ALB)</a:t>
              </a:r>
            </a:p>
          </p:txBody>
        </p:sp>
        <p:sp>
          <p:nvSpPr>
            <p:cNvPr id="13" name="TextBox 13"/>
            <p:cNvSpPr txBox="1"/>
            <p:nvPr/>
          </p:nvSpPr>
          <p:spPr>
            <a:xfrm>
              <a:off x="311726" y="1919083"/>
              <a:ext cx="4221513" cy="966766"/>
            </a:xfrm>
            <a:prstGeom prst="rect">
              <a:avLst/>
            </a:prstGeom>
          </p:spPr>
          <p:txBody>
            <a:bodyPr lIns="0" tIns="0" rIns="0" bIns="0" rtlCol="0" anchor="t">
              <a:spAutoFit/>
            </a:bodyPr>
            <a:lstStyle/>
            <a:p>
              <a:pPr algn="l">
                <a:lnSpc>
                  <a:spcPts val="2953"/>
                </a:lnSpc>
                <a:spcBef>
                  <a:spcPct val="0"/>
                </a:spcBef>
              </a:pPr>
              <a:r>
                <a:rPr lang="en-US" sz="2109">
                  <a:solidFill>
                    <a:srgbClr val="FFFFFF"/>
                  </a:solidFill>
                  <a:latin typeface="Arimo"/>
                  <a:ea typeface="Arimo"/>
                  <a:cs typeface="Arimo"/>
                  <a:sym typeface="Arimo"/>
                </a:rPr>
                <a:t>To track the volume of incoming event traffic. </a:t>
              </a:r>
            </a:p>
          </p:txBody>
        </p:sp>
      </p:grpSp>
      <p:grpSp>
        <p:nvGrpSpPr>
          <p:cNvPr id="14" name="Group 14"/>
          <p:cNvGrpSpPr/>
          <p:nvPr/>
        </p:nvGrpSpPr>
        <p:grpSpPr>
          <a:xfrm>
            <a:off x="12164503" y="1636712"/>
            <a:ext cx="3633723" cy="3170583"/>
            <a:chOff x="0" y="0"/>
            <a:chExt cx="4844964" cy="4227444"/>
          </a:xfrm>
        </p:grpSpPr>
        <p:sp>
          <p:nvSpPr>
            <p:cNvPr id="15" name="Freeform 15"/>
            <p:cNvSpPr/>
            <p:nvPr/>
          </p:nvSpPr>
          <p:spPr>
            <a:xfrm>
              <a:off x="0" y="0"/>
              <a:ext cx="4844964" cy="4227444"/>
            </a:xfrm>
            <a:custGeom>
              <a:avLst/>
              <a:gdLst/>
              <a:ahLst/>
              <a:cxnLst/>
              <a:rect l="l" t="t" r="r" b="b"/>
              <a:pathLst>
                <a:path w="4844964" h="4227444">
                  <a:moveTo>
                    <a:pt x="0" y="0"/>
                  </a:moveTo>
                  <a:lnTo>
                    <a:pt x="4844964" y="0"/>
                  </a:lnTo>
                  <a:lnTo>
                    <a:pt x="4844964" y="4227444"/>
                  </a:lnTo>
                  <a:lnTo>
                    <a:pt x="0" y="4227444"/>
                  </a:lnTo>
                  <a:lnTo>
                    <a:pt x="0" y="0"/>
                  </a:lnTo>
                  <a:close/>
                </a:path>
              </a:pathLst>
            </a:custGeom>
            <a:blipFill>
              <a:blip r:embed="rId4"/>
              <a:stretch>
                <a:fillRect l="-17770" r="-17770"/>
              </a:stretch>
            </a:blipFill>
          </p:spPr>
          <p:txBody>
            <a:bodyPr/>
            <a:lstStyle/>
            <a:p>
              <a:endParaRPr lang="en-US"/>
            </a:p>
          </p:txBody>
        </p:sp>
        <p:sp>
          <p:nvSpPr>
            <p:cNvPr id="16" name="TextBox 16"/>
            <p:cNvSpPr txBox="1"/>
            <p:nvPr/>
          </p:nvSpPr>
          <p:spPr>
            <a:xfrm>
              <a:off x="311726" y="216752"/>
              <a:ext cx="4221513" cy="1047298"/>
            </a:xfrm>
            <a:prstGeom prst="rect">
              <a:avLst/>
            </a:prstGeom>
          </p:spPr>
          <p:txBody>
            <a:bodyPr lIns="0" tIns="0" rIns="0" bIns="0" rtlCol="0" anchor="t">
              <a:spAutoFit/>
            </a:bodyPr>
            <a:lstStyle/>
            <a:p>
              <a:pPr algn="l">
                <a:lnSpc>
                  <a:spcPts val="3204"/>
                </a:lnSpc>
                <a:spcBef>
                  <a:spcPct val="0"/>
                </a:spcBef>
              </a:pPr>
              <a:r>
                <a:rPr lang="en-US" sz="2288" b="1">
                  <a:solidFill>
                    <a:srgbClr val="EF761E"/>
                  </a:solidFill>
                  <a:latin typeface="Montserrat Bold"/>
                  <a:ea typeface="Montserrat Bold"/>
                  <a:cs typeface="Montserrat Bold"/>
                  <a:sym typeface="Montserrat Bold"/>
                </a:rPr>
                <a:t>CacheHitRate (CloudFront)</a:t>
              </a:r>
            </a:p>
          </p:txBody>
        </p:sp>
        <p:sp>
          <p:nvSpPr>
            <p:cNvPr id="17" name="TextBox 17"/>
            <p:cNvSpPr txBox="1"/>
            <p:nvPr/>
          </p:nvSpPr>
          <p:spPr>
            <a:xfrm>
              <a:off x="311726" y="2457675"/>
              <a:ext cx="4221513" cy="1462066"/>
            </a:xfrm>
            <a:prstGeom prst="rect">
              <a:avLst/>
            </a:prstGeom>
          </p:spPr>
          <p:txBody>
            <a:bodyPr lIns="0" tIns="0" rIns="0" bIns="0" rtlCol="0" anchor="t">
              <a:spAutoFit/>
            </a:bodyPr>
            <a:lstStyle/>
            <a:p>
              <a:pPr algn="l">
                <a:lnSpc>
                  <a:spcPts val="2953"/>
                </a:lnSpc>
                <a:spcBef>
                  <a:spcPct val="0"/>
                </a:spcBef>
              </a:pPr>
              <a:r>
                <a:rPr lang="en-US" sz="2109">
                  <a:solidFill>
                    <a:srgbClr val="FFFFFF"/>
                  </a:solidFill>
                  <a:latin typeface="Arimo"/>
                  <a:ea typeface="Arimo"/>
                  <a:cs typeface="Arimo"/>
                  <a:sym typeface="Arimo"/>
                </a:rPr>
                <a:t>To ensure global edge caching is performing as expected.</a:t>
              </a:r>
            </a:p>
          </p:txBody>
        </p:sp>
      </p:grpSp>
      <p:grpSp>
        <p:nvGrpSpPr>
          <p:cNvPr id="18" name="Group 18"/>
          <p:cNvGrpSpPr/>
          <p:nvPr/>
        </p:nvGrpSpPr>
        <p:grpSpPr>
          <a:xfrm>
            <a:off x="1700598" y="4449353"/>
            <a:ext cx="3633723" cy="3170583"/>
            <a:chOff x="0" y="0"/>
            <a:chExt cx="4844964" cy="4227444"/>
          </a:xfrm>
        </p:grpSpPr>
        <p:sp>
          <p:nvSpPr>
            <p:cNvPr id="19" name="Freeform 19"/>
            <p:cNvSpPr/>
            <p:nvPr/>
          </p:nvSpPr>
          <p:spPr>
            <a:xfrm>
              <a:off x="0" y="0"/>
              <a:ext cx="4844964" cy="4227444"/>
            </a:xfrm>
            <a:custGeom>
              <a:avLst/>
              <a:gdLst/>
              <a:ahLst/>
              <a:cxnLst/>
              <a:rect l="l" t="t" r="r" b="b"/>
              <a:pathLst>
                <a:path w="4844964" h="4227444">
                  <a:moveTo>
                    <a:pt x="0" y="0"/>
                  </a:moveTo>
                  <a:lnTo>
                    <a:pt x="4844964" y="0"/>
                  </a:lnTo>
                  <a:lnTo>
                    <a:pt x="4844964" y="4227444"/>
                  </a:lnTo>
                  <a:lnTo>
                    <a:pt x="0" y="4227444"/>
                  </a:lnTo>
                  <a:lnTo>
                    <a:pt x="0" y="0"/>
                  </a:lnTo>
                  <a:close/>
                </a:path>
              </a:pathLst>
            </a:custGeom>
            <a:blipFill>
              <a:blip r:embed="rId4"/>
              <a:stretch>
                <a:fillRect l="-17770" r="-17770"/>
              </a:stretch>
            </a:blipFill>
          </p:spPr>
          <p:txBody>
            <a:bodyPr/>
            <a:lstStyle/>
            <a:p>
              <a:endParaRPr lang="en-US"/>
            </a:p>
          </p:txBody>
        </p:sp>
        <p:sp>
          <p:nvSpPr>
            <p:cNvPr id="20" name="TextBox 20"/>
            <p:cNvSpPr txBox="1"/>
            <p:nvPr/>
          </p:nvSpPr>
          <p:spPr>
            <a:xfrm>
              <a:off x="311726" y="216752"/>
              <a:ext cx="4221513" cy="1047298"/>
            </a:xfrm>
            <a:prstGeom prst="rect">
              <a:avLst/>
            </a:prstGeom>
          </p:spPr>
          <p:txBody>
            <a:bodyPr lIns="0" tIns="0" rIns="0" bIns="0" rtlCol="0" anchor="t">
              <a:spAutoFit/>
            </a:bodyPr>
            <a:lstStyle/>
            <a:p>
              <a:pPr algn="l">
                <a:lnSpc>
                  <a:spcPts val="3204"/>
                </a:lnSpc>
                <a:spcBef>
                  <a:spcPct val="0"/>
                </a:spcBef>
              </a:pPr>
              <a:r>
                <a:rPr lang="en-US" sz="2288" b="1">
                  <a:solidFill>
                    <a:srgbClr val="EF761E"/>
                  </a:solidFill>
                  <a:latin typeface="Montserrat Bold"/>
                  <a:ea typeface="Montserrat Bold"/>
                  <a:cs typeface="Montserrat Bold"/>
                  <a:sym typeface="Montserrat Bold"/>
                </a:rPr>
                <a:t>TargetResponseTime (ALB)</a:t>
              </a:r>
            </a:p>
          </p:txBody>
        </p:sp>
        <p:sp>
          <p:nvSpPr>
            <p:cNvPr id="21" name="TextBox 21"/>
            <p:cNvSpPr txBox="1"/>
            <p:nvPr/>
          </p:nvSpPr>
          <p:spPr>
            <a:xfrm>
              <a:off x="311726" y="2457675"/>
              <a:ext cx="4221513" cy="1462066"/>
            </a:xfrm>
            <a:prstGeom prst="rect">
              <a:avLst/>
            </a:prstGeom>
          </p:spPr>
          <p:txBody>
            <a:bodyPr lIns="0" tIns="0" rIns="0" bIns="0" rtlCol="0" anchor="t">
              <a:spAutoFit/>
            </a:bodyPr>
            <a:lstStyle/>
            <a:p>
              <a:pPr algn="l">
                <a:lnSpc>
                  <a:spcPts val="2953"/>
                </a:lnSpc>
                <a:spcBef>
                  <a:spcPct val="0"/>
                </a:spcBef>
              </a:pPr>
              <a:r>
                <a:rPr lang="en-US" sz="2109">
                  <a:solidFill>
                    <a:srgbClr val="FFFFFF"/>
                  </a:solidFill>
                  <a:latin typeface="Arimo"/>
                  <a:ea typeface="Arimo"/>
                  <a:cs typeface="Arimo"/>
                  <a:sym typeface="Arimo"/>
                </a:rPr>
                <a:t>To detect rising latency during the peak 45 minutes. </a:t>
              </a:r>
            </a:p>
          </p:txBody>
        </p:sp>
      </p:grpSp>
      <p:grpSp>
        <p:nvGrpSpPr>
          <p:cNvPr id="22" name="Group 22"/>
          <p:cNvGrpSpPr/>
          <p:nvPr/>
        </p:nvGrpSpPr>
        <p:grpSpPr>
          <a:xfrm>
            <a:off x="7175880" y="4217568"/>
            <a:ext cx="3633723" cy="3170583"/>
            <a:chOff x="0" y="0"/>
            <a:chExt cx="4844964" cy="4227444"/>
          </a:xfrm>
        </p:grpSpPr>
        <p:sp>
          <p:nvSpPr>
            <p:cNvPr id="23" name="Freeform 23"/>
            <p:cNvSpPr/>
            <p:nvPr/>
          </p:nvSpPr>
          <p:spPr>
            <a:xfrm>
              <a:off x="0" y="0"/>
              <a:ext cx="4844964" cy="4227444"/>
            </a:xfrm>
            <a:custGeom>
              <a:avLst/>
              <a:gdLst/>
              <a:ahLst/>
              <a:cxnLst/>
              <a:rect l="l" t="t" r="r" b="b"/>
              <a:pathLst>
                <a:path w="4844964" h="4227444">
                  <a:moveTo>
                    <a:pt x="0" y="0"/>
                  </a:moveTo>
                  <a:lnTo>
                    <a:pt x="4844964" y="0"/>
                  </a:lnTo>
                  <a:lnTo>
                    <a:pt x="4844964" y="4227444"/>
                  </a:lnTo>
                  <a:lnTo>
                    <a:pt x="0" y="4227444"/>
                  </a:lnTo>
                  <a:lnTo>
                    <a:pt x="0" y="0"/>
                  </a:lnTo>
                  <a:close/>
                </a:path>
              </a:pathLst>
            </a:custGeom>
            <a:blipFill>
              <a:blip r:embed="rId4"/>
              <a:stretch>
                <a:fillRect l="-17770" r="-17770"/>
              </a:stretch>
            </a:blipFill>
          </p:spPr>
          <p:txBody>
            <a:bodyPr/>
            <a:lstStyle/>
            <a:p>
              <a:endParaRPr lang="en-US"/>
            </a:p>
          </p:txBody>
        </p:sp>
        <p:sp>
          <p:nvSpPr>
            <p:cNvPr id="24" name="TextBox 24"/>
            <p:cNvSpPr txBox="1"/>
            <p:nvPr/>
          </p:nvSpPr>
          <p:spPr>
            <a:xfrm>
              <a:off x="311726" y="216752"/>
              <a:ext cx="4221513" cy="1047298"/>
            </a:xfrm>
            <a:prstGeom prst="rect">
              <a:avLst/>
            </a:prstGeom>
          </p:spPr>
          <p:txBody>
            <a:bodyPr lIns="0" tIns="0" rIns="0" bIns="0" rtlCol="0" anchor="t">
              <a:spAutoFit/>
            </a:bodyPr>
            <a:lstStyle/>
            <a:p>
              <a:pPr algn="l">
                <a:lnSpc>
                  <a:spcPts val="3204"/>
                </a:lnSpc>
                <a:spcBef>
                  <a:spcPct val="0"/>
                </a:spcBef>
              </a:pPr>
              <a:r>
                <a:rPr lang="en-US" sz="2288" b="1">
                  <a:solidFill>
                    <a:srgbClr val="EF761E"/>
                  </a:solidFill>
                  <a:latin typeface="Montserrat Bold"/>
                  <a:ea typeface="Montserrat Bold"/>
                  <a:cs typeface="Montserrat Bold"/>
                  <a:sym typeface="Montserrat Bold"/>
                </a:rPr>
                <a:t>EngineCPUUtilization (ElastiCache)</a:t>
              </a:r>
            </a:p>
          </p:txBody>
        </p:sp>
        <p:sp>
          <p:nvSpPr>
            <p:cNvPr id="25" name="TextBox 25"/>
            <p:cNvSpPr txBox="1"/>
            <p:nvPr/>
          </p:nvSpPr>
          <p:spPr>
            <a:xfrm>
              <a:off x="311726" y="2457675"/>
              <a:ext cx="4221513" cy="1462066"/>
            </a:xfrm>
            <a:prstGeom prst="rect">
              <a:avLst/>
            </a:prstGeom>
          </p:spPr>
          <p:txBody>
            <a:bodyPr lIns="0" tIns="0" rIns="0" bIns="0" rtlCol="0" anchor="t">
              <a:spAutoFit/>
            </a:bodyPr>
            <a:lstStyle/>
            <a:p>
              <a:pPr algn="l">
                <a:lnSpc>
                  <a:spcPts val="2953"/>
                </a:lnSpc>
                <a:spcBef>
                  <a:spcPct val="0"/>
                </a:spcBef>
              </a:pPr>
              <a:r>
                <a:rPr lang="en-US" sz="2109">
                  <a:solidFill>
                    <a:srgbClr val="FFFFFF"/>
                  </a:solidFill>
                  <a:latin typeface="Arimo"/>
                  <a:ea typeface="Arimo"/>
                  <a:cs typeface="Arimo"/>
                  <a:sym typeface="Arimo"/>
                </a:rPr>
                <a:t>To monitor the health of the in-memory cache layer.</a:t>
              </a:r>
            </a:p>
          </p:txBody>
        </p:sp>
      </p:grpSp>
      <p:sp>
        <p:nvSpPr>
          <p:cNvPr id="26" name="TextBox 26"/>
          <p:cNvSpPr txBox="1"/>
          <p:nvPr/>
        </p:nvSpPr>
        <p:spPr>
          <a:xfrm>
            <a:off x="386982" y="7791387"/>
            <a:ext cx="17211520" cy="2091690"/>
          </a:xfrm>
          <a:prstGeom prst="rect">
            <a:avLst/>
          </a:prstGeom>
        </p:spPr>
        <p:txBody>
          <a:bodyPr lIns="0" tIns="0" rIns="0" bIns="0" rtlCol="0" anchor="t">
            <a:spAutoFit/>
          </a:bodyPr>
          <a:lstStyle/>
          <a:p>
            <a:pPr algn="ctr">
              <a:lnSpc>
                <a:spcPts val="3359"/>
              </a:lnSpc>
            </a:pPr>
            <a:r>
              <a:rPr lang="en-US" sz="2400">
                <a:solidFill>
                  <a:srgbClr val="FFFFFF"/>
                </a:solidFill>
                <a:latin typeface="Arimo"/>
                <a:ea typeface="Arimo"/>
                <a:cs typeface="Arimo"/>
                <a:sym typeface="Arimo"/>
              </a:rPr>
              <a:t>• </a:t>
            </a:r>
            <a:r>
              <a:rPr lang="en-US" sz="2400" b="1">
                <a:solidFill>
                  <a:srgbClr val="FFFFFF"/>
                </a:solidFill>
                <a:latin typeface="Arimo Bold"/>
                <a:ea typeface="Arimo Bold"/>
                <a:cs typeface="Arimo Bold"/>
                <a:sym typeface="Arimo Bold"/>
              </a:rPr>
              <a:t>Alarms</a:t>
            </a:r>
            <a:r>
              <a:rPr lang="en-US" sz="2400">
                <a:solidFill>
                  <a:srgbClr val="FFFFFF"/>
                </a:solidFill>
                <a:latin typeface="Arimo"/>
                <a:ea typeface="Arimo"/>
                <a:cs typeface="Arimo"/>
                <a:sym typeface="Arimo"/>
              </a:rPr>
              <a:t>: </a:t>
            </a:r>
          </a:p>
          <a:p>
            <a:pPr algn="ctr">
              <a:lnSpc>
                <a:spcPts val="3359"/>
              </a:lnSpc>
              <a:spcBef>
                <a:spcPct val="0"/>
              </a:spcBef>
            </a:pPr>
            <a:r>
              <a:rPr lang="en-US" sz="2400">
                <a:solidFill>
                  <a:srgbClr val="FFFFFF"/>
                </a:solidFill>
                <a:latin typeface="Arimo"/>
                <a:ea typeface="Arimo"/>
                <a:cs typeface="Arimo"/>
                <a:sym typeface="Arimo"/>
              </a:rPr>
              <a:t>    ◦ </a:t>
            </a:r>
            <a:r>
              <a:rPr lang="en-US" sz="2400" b="1">
                <a:solidFill>
                  <a:srgbClr val="FFFFFF"/>
                </a:solidFill>
                <a:latin typeface="Arimo Bold"/>
                <a:ea typeface="Arimo Bold"/>
                <a:cs typeface="Arimo Bold"/>
                <a:sym typeface="Arimo Bold"/>
              </a:rPr>
              <a:t>Scale-Out Alarm</a:t>
            </a:r>
            <a:r>
              <a:rPr lang="en-US" sz="2400">
                <a:solidFill>
                  <a:srgbClr val="FFFFFF"/>
                </a:solidFill>
                <a:latin typeface="Arimo"/>
                <a:ea typeface="Arimo"/>
                <a:cs typeface="Arimo"/>
                <a:sym typeface="Arimo"/>
              </a:rPr>
              <a:t>: Triggered if Average CPU &gt; 75% for 2 minutes; action: ASG adds instances. </a:t>
            </a:r>
          </a:p>
          <a:p>
            <a:pPr algn="ctr">
              <a:lnSpc>
                <a:spcPts val="3359"/>
              </a:lnSpc>
              <a:spcBef>
                <a:spcPct val="0"/>
              </a:spcBef>
            </a:pPr>
            <a:r>
              <a:rPr lang="en-US" sz="2400">
                <a:solidFill>
                  <a:srgbClr val="FFFFFF"/>
                </a:solidFill>
                <a:latin typeface="Arimo"/>
                <a:ea typeface="Arimo"/>
                <a:cs typeface="Arimo"/>
                <a:sym typeface="Arimo"/>
              </a:rPr>
              <a:t>    ◦ </a:t>
            </a:r>
            <a:r>
              <a:rPr lang="en-US" sz="2400" b="1">
                <a:solidFill>
                  <a:srgbClr val="FFFFFF"/>
                </a:solidFill>
                <a:latin typeface="Arimo Bold"/>
                <a:ea typeface="Arimo Bold"/>
                <a:cs typeface="Arimo Bold"/>
                <a:sym typeface="Arimo Bold"/>
              </a:rPr>
              <a:t>Cache Miss Alarm</a:t>
            </a:r>
            <a:r>
              <a:rPr lang="en-US" sz="2400">
                <a:solidFill>
                  <a:srgbClr val="FFFFFF"/>
                </a:solidFill>
                <a:latin typeface="Arimo"/>
                <a:ea typeface="Arimo"/>
                <a:cs typeface="Arimo"/>
                <a:sym typeface="Arimo"/>
              </a:rPr>
              <a:t>: Triggered if Cache Hit Rate &lt; 50%; action: Notify team of a potential "cache stampede". </a:t>
            </a:r>
          </a:p>
          <a:p>
            <a:pPr algn="ctr">
              <a:lnSpc>
                <a:spcPts val="3359"/>
              </a:lnSpc>
              <a:spcBef>
                <a:spcPct val="0"/>
              </a:spcBef>
            </a:pPr>
            <a:r>
              <a:rPr lang="en-US" sz="2400">
                <a:solidFill>
                  <a:srgbClr val="FFFFFF"/>
                </a:solidFill>
                <a:latin typeface="Arimo"/>
                <a:ea typeface="Arimo"/>
                <a:cs typeface="Arimo"/>
                <a:sym typeface="Arimo"/>
              </a:rPr>
              <a:t>    ◦ </a:t>
            </a:r>
            <a:r>
              <a:rPr lang="en-US" sz="2400" b="1">
                <a:solidFill>
                  <a:srgbClr val="FFFFFF"/>
                </a:solidFill>
                <a:latin typeface="Arimo Bold"/>
                <a:ea typeface="Arimo Bold"/>
                <a:cs typeface="Arimo Bold"/>
                <a:sym typeface="Arimo Bold"/>
              </a:rPr>
              <a:t>Error Rate Alarm</a:t>
            </a:r>
            <a:r>
              <a:rPr lang="en-US" sz="2400">
                <a:solidFill>
                  <a:srgbClr val="FFFFFF"/>
                </a:solidFill>
                <a:latin typeface="Arimo"/>
                <a:ea typeface="Arimo"/>
                <a:cs typeface="Arimo"/>
                <a:sym typeface="Arimo"/>
              </a:rPr>
              <a:t>: Triggered if HTTP 5xx Errors &gt; 1%; action: Investigate database or application failures. </a:t>
            </a:r>
          </a:p>
          <a:p>
            <a:pPr algn="ctr">
              <a:lnSpc>
                <a:spcPts val="3359"/>
              </a:lnSpc>
              <a:spcBef>
                <a:spcPct val="0"/>
              </a:spcBef>
            </a:pPr>
            <a:endParaRPr lang="en-US" sz="2400">
              <a:solidFill>
                <a:srgbClr val="FFFFFF"/>
              </a:solidFill>
              <a:latin typeface="Arimo"/>
              <a:ea typeface="Arimo"/>
              <a:cs typeface="Arimo"/>
              <a:sym typeface="Arimo"/>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Freeform 2"/>
          <p:cNvSpPr/>
          <p:nvPr/>
        </p:nvSpPr>
        <p:spPr>
          <a:xfrm>
            <a:off x="384429" y="-3747464"/>
            <a:ext cx="17519141" cy="8890964"/>
          </a:xfrm>
          <a:custGeom>
            <a:avLst/>
            <a:gdLst/>
            <a:ahLst/>
            <a:cxnLst/>
            <a:rect l="l" t="t" r="r" b="b"/>
            <a:pathLst>
              <a:path w="17519141" h="8890964">
                <a:moveTo>
                  <a:pt x="0" y="0"/>
                </a:moveTo>
                <a:lnTo>
                  <a:pt x="17519142" y="0"/>
                </a:lnTo>
                <a:lnTo>
                  <a:pt x="17519142" y="8890964"/>
                </a:lnTo>
                <a:lnTo>
                  <a:pt x="0" y="8890964"/>
                </a:lnTo>
                <a:lnTo>
                  <a:pt x="0" y="0"/>
                </a:lnTo>
                <a:close/>
              </a:path>
            </a:pathLst>
          </a:custGeom>
          <a:blipFill>
            <a:blip r:embed="rId2"/>
            <a:stretch>
              <a:fillRect/>
            </a:stretch>
          </a:blipFill>
        </p:spPr>
        <p:txBody>
          <a:bodyPr/>
          <a:lstStyle/>
          <a:p>
            <a:endParaRPr lang="en-US"/>
          </a:p>
        </p:txBody>
      </p:sp>
      <p:sp>
        <p:nvSpPr>
          <p:cNvPr id="3" name="TextBox 3"/>
          <p:cNvSpPr txBox="1"/>
          <p:nvPr/>
        </p:nvSpPr>
        <p:spPr>
          <a:xfrm>
            <a:off x="3725397" y="593243"/>
            <a:ext cx="10837206" cy="2811956"/>
          </a:xfrm>
          <a:prstGeom prst="rect">
            <a:avLst/>
          </a:prstGeom>
        </p:spPr>
        <p:txBody>
          <a:bodyPr lIns="0" tIns="0" rIns="0" bIns="0" rtlCol="0" anchor="t">
            <a:spAutoFit/>
          </a:bodyPr>
          <a:lstStyle/>
          <a:p>
            <a:pPr algn="ctr">
              <a:lnSpc>
                <a:spcPts val="7478"/>
              </a:lnSpc>
              <a:spcBef>
                <a:spcPct val="0"/>
              </a:spcBef>
            </a:pPr>
            <a:r>
              <a:rPr lang="en-US" sz="5341" b="1">
                <a:solidFill>
                  <a:srgbClr val="FFFFFF"/>
                </a:solidFill>
                <a:latin typeface="Montserrat Bold"/>
                <a:ea typeface="Montserrat Bold"/>
                <a:cs typeface="Montserrat Bold"/>
                <a:sym typeface="Montserrat Bold"/>
              </a:rPr>
              <a:t>Failure and Risk Analysis (Example Scenario) </a:t>
            </a:r>
          </a:p>
          <a:p>
            <a:pPr algn="ctr">
              <a:lnSpc>
                <a:spcPts val="7478"/>
              </a:lnSpc>
              <a:spcBef>
                <a:spcPct val="0"/>
              </a:spcBef>
            </a:pPr>
            <a:endParaRPr lang="en-US" sz="5341" b="1">
              <a:solidFill>
                <a:srgbClr val="FFFFFF"/>
              </a:solidFill>
              <a:latin typeface="Montserrat Bold"/>
              <a:ea typeface="Montserrat Bold"/>
              <a:cs typeface="Montserrat Bold"/>
              <a:sym typeface="Montserrat Bold"/>
            </a:endParaRPr>
          </a:p>
        </p:txBody>
      </p:sp>
      <p:sp>
        <p:nvSpPr>
          <p:cNvPr id="4" name="TextBox 4"/>
          <p:cNvSpPr txBox="1"/>
          <p:nvPr/>
        </p:nvSpPr>
        <p:spPr>
          <a:xfrm>
            <a:off x="392122" y="3839733"/>
            <a:ext cx="17510671" cy="436017"/>
          </a:xfrm>
          <a:prstGeom prst="rect">
            <a:avLst/>
          </a:prstGeom>
        </p:spPr>
        <p:txBody>
          <a:bodyPr lIns="0" tIns="0" rIns="0" bIns="0" rtlCol="0" anchor="t">
            <a:spAutoFit/>
          </a:bodyPr>
          <a:lstStyle/>
          <a:p>
            <a:pPr algn="ctr">
              <a:lnSpc>
                <a:spcPts val="3375"/>
              </a:lnSpc>
              <a:spcBef>
                <a:spcPct val="0"/>
              </a:spcBef>
            </a:pPr>
            <a:r>
              <a:rPr lang="en-US" sz="3600" dirty="0">
                <a:solidFill>
                  <a:srgbClr val="FFFFFF"/>
                </a:solidFill>
                <a:latin typeface="Arimo"/>
                <a:ea typeface="Arimo"/>
                <a:cs typeface="Arimo"/>
                <a:sym typeface="Arimo"/>
              </a:rPr>
              <a:t>•</a:t>
            </a:r>
          </a:p>
        </p:txBody>
      </p:sp>
      <p:graphicFrame>
        <p:nvGraphicFramePr>
          <p:cNvPr id="6" name="Table 5">
            <a:extLst>
              <a:ext uri="{FF2B5EF4-FFF2-40B4-BE49-F238E27FC236}">
                <a16:creationId xmlns:a16="http://schemas.microsoft.com/office/drawing/2014/main" id="{4291933D-FD8C-CE19-D50D-12C47BAB65CB}"/>
              </a:ext>
            </a:extLst>
          </p:cNvPr>
          <p:cNvGraphicFramePr>
            <a:graphicFrameLocks noGrp="1"/>
          </p:cNvGraphicFramePr>
          <p:nvPr>
            <p:extLst>
              <p:ext uri="{D42A27DB-BD31-4B8C-83A1-F6EECF244321}">
                <p14:modId xmlns:p14="http://schemas.microsoft.com/office/powerpoint/2010/main" val="1007100577"/>
              </p:ext>
            </p:extLst>
          </p:nvPr>
        </p:nvGraphicFramePr>
        <p:xfrm>
          <a:off x="838200" y="2628900"/>
          <a:ext cx="17057680" cy="5943599"/>
        </p:xfrm>
        <a:graphic>
          <a:graphicData uri="http://schemas.openxmlformats.org/drawingml/2006/table">
            <a:tbl>
              <a:tblPr/>
              <a:tblGrid>
                <a:gridCol w="3411536">
                  <a:extLst>
                    <a:ext uri="{9D8B030D-6E8A-4147-A177-3AD203B41FA5}">
                      <a16:colId xmlns:a16="http://schemas.microsoft.com/office/drawing/2014/main" val="4286748919"/>
                    </a:ext>
                  </a:extLst>
                </a:gridCol>
                <a:gridCol w="3411536">
                  <a:extLst>
                    <a:ext uri="{9D8B030D-6E8A-4147-A177-3AD203B41FA5}">
                      <a16:colId xmlns:a16="http://schemas.microsoft.com/office/drawing/2014/main" val="1851548585"/>
                    </a:ext>
                  </a:extLst>
                </a:gridCol>
                <a:gridCol w="3411536">
                  <a:extLst>
                    <a:ext uri="{9D8B030D-6E8A-4147-A177-3AD203B41FA5}">
                      <a16:colId xmlns:a16="http://schemas.microsoft.com/office/drawing/2014/main" val="319022400"/>
                    </a:ext>
                  </a:extLst>
                </a:gridCol>
                <a:gridCol w="3411536">
                  <a:extLst>
                    <a:ext uri="{9D8B030D-6E8A-4147-A177-3AD203B41FA5}">
                      <a16:colId xmlns:a16="http://schemas.microsoft.com/office/drawing/2014/main" val="695979159"/>
                    </a:ext>
                  </a:extLst>
                </a:gridCol>
                <a:gridCol w="3411536">
                  <a:extLst>
                    <a:ext uri="{9D8B030D-6E8A-4147-A177-3AD203B41FA5}">
                      <a16:colId xmlns:a16="http://schemas.microsoft.com/office/drawing/2014/main" val="1895907742"/>
                    </a:ext>
                  </a:extLst>
                </a:gridCol>
              </a:tblGrid>
              <a:tr h="424543">
                <a:tc>
                  <a:txBody>
                    <a:bodyPr/>
                    <a:lstStyle/>
                    <a:p>
                      <a:pPr>
                        <a:buNone/>
                      </a:pPr>
                      <a:r>
                        <a:rPr lang="en-US" sz="2000">
                          <a:effectLst/>
                        </a:rPr>
                        <a:t>Scenario</a:t>
                      </a:r>
                    </a:p>
                  </a:txBody>
                  <a:tcPr marL="46183" marR="46183" marT="23092" marB="23092" anchor="ctr">
                    <a:lnL>
                      <a:noFill/>
                    </a:lnL>
                    <a:lnR>
                      <a:noFill/>
                    </a:lnR>
                    <a:lnT>
                      <a:noFill/>
                    </a:lnT>
                    <a:lnB>
                      <a:noFill/>
                    </a:lnB>
                    <a:solidFill>
                      <a:srgbClr val="FFFFFF"/>
                    </a:solidFill>
                  </a:tcPr>
                </a:tc>
                <a:tc>
                  <a:txBody>
                    <a:bodyPr/>
                    <a:lstStyle/>
                    <a:p>
                      <a:pPr>
                        <a:buNone/>
                      </a:pPr>
                      <a:r>
                        <a:rPr lang="en-US" sz="2000">
                          <a:effectLst/>
                        </a:rPr>
                        <a:t>What Breaks</a:t>
                      </a:r>
                    </a:p>
                  </a:txBody>
                  <a:tcPr marL="46183" marR="46183" marT="23092" marB="23092" anchor="ctr">
                    <a:lnL>
                      <a:noFill/>
                    </a:lnL>
                    <a:lnR>
                      <a:noFill/>
                    </a:lnR>
                    <a:lnT>
                      <a:noFill/>
                    </a:lnT>
                    <a:lnB>
                      <a:noFill/>
                    </a:lnB>
                    <a:solidFill>
                      <a:srgbClr val="FFFFFF"/>
                    </a:solidFill>
                  </a:tcPr>
                </a:tc>
                <a:tc>
                  <a:txBody>
                    <a:bodyPr/>
                    <a:lstStyle/>
                    <a:p>
                      <a:pPr>
                        <a:buNone/>
                      </a:pPr>
                      <a:r>
                        <a:rPr lang="en-US" sz="2000">
                          <a:effectLst/>
                        </a:rPr>
                        <a:t>Impact Limitation</a:t>
                      </a:r>
                    </a:p>
                  </a:txBody>
                  <a:tcPr marL="46183" marR="46183" marT="23092" marB="23092" anchor="ctr">
                    <a:lnL>
                      <a:noFill/>
                    </a:lnL>
                    <a:lnR>
                      <a:noFill/>
                    </a:lnR>
                    <a:lnT>
                      <a:noFill/>
                    </a:lnT>
                    <a:lnB>
                      <a:noFill/>
                    </a:lnB>
                    <a:solidFill>
                      <a:srgbClr val="FFFFFF"/>
                    </a:solidFill>
                  </a:tcPr>
                </a:tc>
                <a:tc>
                  <a:txBody>
                    <a:bodyPr/>
                    <a:lstStyle/>
                    <a:p>
                      <a:pPr>
                        <a:buNone/>
                      </a:pPr>
                      <a:r>
                        <a:rPr lang="en-US" sz="2000">
                          <a:effectLst/>
                        </a:rPr>
                        <a:t>Operational Signal</a:t>
                      </a:r>
                    </a:p>
                  </a:txBody>
                  <a:tcPr marL="46183" marR="46183" marT="23092" marB="23092" anchor="ctr">
                    <a:lnL>
                      <a:noFill/>
                    </a:lnL>
                    <a:lnR>
                      <a:noFill/>
                    </a:lnR>
                    <a:lnT>
                      <a:noFill/>
                    </a:lnT>
                    <a:lnB>
                      <a:noFill/>
                    </a:lnB>
                    <a:solidFill>
                      <a:srgbClr val="FFFFFF"/>
                    </a:solidFill>
                  </a:tcPr>
                </a:tc>
                <a:tc>
                  <a:txBody>
                    <a:bodyPr/>
                    <a:lstStyle/>
                    <a:p>
                      <a:pPr>
                        <a:buNone/>
                      </a:pPr>
                      <a:r>
                        <a:rPr lang="en-US" sz="2000">
                          <a:effectLst/>
                        </a:rPr>
                        <a:t>Corrective Action</a:t>
                      </a:r>
                    </a:p>
                  </a:txBody>
                  <a:tcPr marL="46183" marR="46183" marT="23092" marB="23092" anchor="ctr">
                    <a:lnL>
                      <a:noFill/>
                    </a:lnL>
                    <a:lnR>
                      <a:noFill/>
                    </a:lnR>
                    <a:lnT>
                      <a:noFill/>
                    </a:lnT>
                    <a:lnB>
                      <a:noFill/>
                    </a:lnB>
                    <a:solidFill>
                      <a:srgbClr val="FFFFFF"/>
                    </a:solidFill>
                  </a:tcPr>
                </a:tc>
                <a:extLst>
                  <a:ext uri="{0D108BD9-81ED-4DB2-BD59-A6C34878D82A}">
                    <a16:rowId xmlns:a16="http://schemas.microsoft.com/office/drawing/2014/main" val="1924803934"/>
                  </a:ext>
                </a:extLst>
              </a:tr>
              <a:tr h="1334277">
                <a:tc>
                  <a:txBody>
                    <a:bodyPr/>
                    <a:lstStyle/>
                    <a:p>
                      <a:pPr>
                        <a:buNone/>
                      </a:pPr>
                      <a:r>
                        <a:rPr lang="en-US" sz="2000" b="1">
                          <a:effectLst/>
                        </a:rPr>
                        <a:t>1. One AZ Unreachable</a:t>
                      </a:r>
                      <a:endParaRPr lang="en-US" sz="2000">
                        <a:effectLst/>
                      </a:endParaRPr>
                    </a:p>
                  </a:txBody>
                  <a:tcPr marL="46183" marR="46183" marT="23092" marB="23092" anchor="ctr">
                    <a:lnL>
                      <a:noFill/>
                    </a:lnL>
                    <a:lnR>
                      <a:noFill/>
                    </a:lnR>
                    <a:lnT>
                      <a:noFill/>
                    </a:lnT>
                    <a:lnB>
                      <a:noFill/>
                    </a:lnB>
                    <a:solidFill>
                      <a:srgbClr val="FFFFFF"/>
                    </a:solidFill>
                  </a:tcPr>
                </a:tc>
                <a:tc>
                  <a:txBody>
                    <a:bodyPr/>
                    <a:lstStyle/>
                    <a:p>
                      <a:pPr>
                        <a:buNone/>
                      </a:pPr>
                      <a:r>
                        <a:rPr lang="en-US" sz="2000" b="1">
                          <a:effectLst/>
                        </a:rPr>
                        <a:t>EC2 instances and RDS standby</a:t>
                      </a:r>
                      <a:r>
                        <a:rPr lang="en-US" sz="2000">
                          <a:effectLst/>
                        </a:rPr>
                        <a:t> in that zone stop responding.</a:t>
                      </a:r>
                    </a:p>
                  </a:txBody>
                  <a:tcPr marL="46183" marR="46183" marT="23092" marB="23092" anchor="ctr">
                    <a:lnL>
                      <a:noFill/>
                    </a:lnL>
                    <a:lnR>
                      <a:noFill/>
                    </a:lnR>
                    <a:lnT>
                      <a:noFill/>
                    </a:lnT>
                    <a:lnB>
                      <a:noFill/>
                    </a:lnB>
                    <a:solidFill>
                      <a:srgbClr val="FFFFFF"/>
                    </a:solidFill>
                  </a:tcPr>
                </a:tc>
                <a:tc>
                  <a:txBody>
                    <a:bodyPr/>
                    <a:lstStyle/>
                    <a:p>
                      <a:pPr>
                        <a:buNone/>
                      </a:pPr>
                      <a:r>
                        <a:rPr lang="en-US" sz="2000" b="1">
                          <a:effectLst/>
                        </a:rPr>
                        <a:t>ALB health checks</a:t>
                      </a:r>
                      <a:r>
                        <a:rPr lang="en-US" sz="2000">
                          <a:effectLst/>
                        </a:rPr>
                        <a:t> route traffic to healthy zones; </a:t>
                      </a:r>
                      <a:r>
                        <a:rPr lang="en-US" sz="2000" b="1">
                          <a:effectLst/>
                        </a:rPr>
                        <a:t>RDS Multi-AZ</a:t>
                      </a:r>
                      <a:r>
                        <a:rPr lang="en-US" sz="2000">
                          <a:effectLst/>
                        </a:rPr>
                        <a:t> performs auto-failover.</a:t>
                      </a:r>
                    </a:p>
                  </a:txBody>
                  <a:tcPr marL="46183" marR="46183" marT="23092" marB="23092" anchor="ctr">
                    <a:lnL>
                      <a:noFill/>
                    </a:lnL>
                    <a:lnR>
                      <a:noFill/>
                    </a:lnR>
                    <a:lnT>
                      <a:noFill/>
                    </a:lnT>
                    <a:lnB>
                      <a:noFill/>
                    </a:lnB>
                    <a:solidFill>
                      <a:srgbClr val="FFFFFF"/>
                    </a:solidFill>
                  </a:tcPr>
                </a:tc>
                <a:tc>
                  <a:txBody>
                    <a:bodyPr/>
                    <a:lstStyle/>
                    <a:p>
                      <a:pPr>
                        <a:buNone/>
                      </a:pPr>
                      <a:r>
                        <a:rPr lang="en-US" sz="2000">
                          <a:effectLst/>
                        </a:rPr>
                        <a:t>CloudWatch Alarm for </a:t>
                      </a:r>
                      <a:r>
                        <a:rPr lang="en-US" sz="2000" b="1">
                          <a:solidFill>
                            <a:srgbClr val="282A2C"/>
                          </a:solidFill>
                          <a:effectLst/>
                          <a:latin typeface="Courier New" panose="02070309020205020404" pitchFamily="49" charset="0"/>
                        </a:rPr>
                        <a:t>UnHealthyHostCount</a:t>
                      </a:r>
                      <a:r>
                        <a:rPr lang="en-US" sz="2000">
                          <a:effectLst/>
                        </a:rPr>
                        <a:t> or reduced capacity.</a:t>
                      </a:r>
                    </a:p>
                  </a:txBody>
                  <a:tcPr marL="46183" marR="46183" marT="23092" marB="23092" anchor="ctr">
                    <a:lnL>
                      <a:noFill/>
                    </a:lnL>
                    <a:lnR>
                      <a:noFill/>
                    </a:lnR>
                    <a:lnT>
                      <a:noFill/>
                    </a:lnT>
                    <a:lnB>
                      <a:noFill/>
                    </a:lnB>
                    <a:solidFill>
                      <a:srgbClr val="FFFFFF"/>
                    </a:solidFill>
                  </a:tcPr>
                </a:tc>
                <a:tc>
                  <a:txBody>
                    <a:bodyPr/>
                    <a:lstStyle/>
                    <a:p>
                      <a:pPr>
                        <a:buNone/>
                      </a:pPr>
                      <a:r>
                        <a:rPr lang="en-US" sz="2000" b="1" dirty="0">
                          <a:effectLst/>
                        </a:rPr>
                        <a:t>ASG</a:t>
                      </a:r>
                      <a:r>
                        <a:rPr lang="en-US" sz="2000" dirty="0">
                          <a:effectLst/>
                        </a:rPr>
                        <a:t> automatically launches new instances in remaining healthy zones.</a:t>
                      </a:r>
                    </a:p>
                  </a:txBody>
                  <a:tcPr marL="46183" marR="46183" marT="23092" marB="23092" anchor="ctr">
                    <a:lnL>
                      <a:noFill/>
                    </a:lnL>
                    <a:lnR>
                      <a:noFill/>
                    </a:lnR>
                    <a:lnT>
                      <a:noFill/>
                    </a:lnT>
                    <a:lnB>
                      <a:noFill/>
                    </a:lnB>
                    <a:solidFill>
                      <a:srgbClr val="FFFFFF"/>
                    </a:solidFill>
                  </a:tcPr>
                </a:tc>
                <a:extLst>
                  <a:ext uri="{0D108BD9-81ED-4DB2-BD59-A6C34878D82A}">
                    <a16:rowId xmlns:a16="http://schemas.microsoft.com/office/drawing/2014/main" val="2833916650"/>
                  </a:ext>
                </a:extLst>
              </a:tr>
              <a:tr h="1334277">
                <a:tc>
                  <a:txBody>
                    <a:bodyPr/>
                    <a:lstStyle/>
                    <a:p>
                      <a:pPr>
                        <a:buNone/>
                      </a:pPr>
                      <a:r>
                        <a:rPr lang="en-US" sz="2000" b="1">
                          <a:effectLst/>
                        </a:rPr>
                        <a:t>2. Traffic Doubles Forecast</a:t>
                      </a:r>
                      <a:endParaRPr lang="en-US" sz="2000">
                        <a:effectLst/>
                      </a:endParaRPr>
                    </a:p>
                  </a:txBody>
                  <a:tcPr marL="46183" marR="46183" marT="23092" marB="23092" anchor="ctr">
                    <a:lnL>
                      <a:noFill/>
                    </a:lnL>
                    <a:lnR>
                      <a:noFill/>
                    </a:lnR>
                    <a:lnT>
                      <a:noFill/>
                    </a:lnT>
                    <a:lnB>
                      <a:noFill/>
                    </a:lnB>
                    <a:solidFill>
                      <a:srgbClr val="FFFFFF"/>
                    </a:solidFill>
                  </a:tcPr>
                </a:tc>
                <a:tc>
                  <a:txBody>
                    <a:bodyPr/>
                    <a:lstStyle/>
                    <a:p>
                      <a:pPr>
                        <a:buNone/>
                      </a:pPr>
                      <a:r>
                        <a:rPr lang="en-US" sz="2000" b="1" dirty="0">
                          <a:effectLst/>
                        </a:rPr>
                        <a:t>CPU saturation</a:t>
                      </a:r>
                      <a:r>
                        <a:rPr lang="en-US" sz="2000" dirty="0">
                          <a:effectLst/>
                        </a:rPr>
                        <a:t>; current fleet cannot handle 60k users, causing rising 5xx errors.</a:t>
                      </a:r>
                    </a:p>
                  </a:txBody>
                  <a:tcPr marL="46183" marR="46183" marT="23092" marB="23092" anchor="ctr">
                    <a:lnL>
                      <a:noFill/>
                    </a:lnL>
                    <a:lnR>
                      <a:noFill/>
                    </a:lnR>
                    <a:lnT>
                      <a:noFill/>
                    </a:lnT>
                    <a:lnB>
                      <a:noFill/>
                    </a:lnB>
                    <a:solidFill>
                      <a:srgbClr val="FFFFFF"/>
                    </a:solidFill>
                  </a:tcPr>
                </a:tc>
                <a:tc>
                  <a:txBody>
                    <a:bodyPr/>
                    <a:lstStyle/>
                    <a:p>
                      <a:pPr>
                        <a:buNone/>
                      </a:pPr>
                      <a:r>
                        <a:rPr lang="en-US" sz="2000" b="1">
                          <a:effectLst/>
                        </a:rPr>
                        <a:t>Auto Scaling</a:t>
                      </a:r>
                      <a:r>
                        <a:rPr lang="en-US" sz="2000">
                          <a:effectLst/>
                        </a:rPr>
                        <a:t> aggressively adds instances based on CPU thresholds.</a:t>
                      </a:r>
                    </a:p>
                  </a:txBody>
                  <a:tcPr marL="46183" marR="46183" marT="23092" marB="23092" anchor="ctr">
                    <a:lnL>
                      <a:noFill/>
                    </a:lnL>
                    <a:lnR>
                      <a:noFill/>
                    </a:lnR>
                    <a:lnT>
                      <a:noFill/>
                    </a:lnT>
                    <a:lnB>
                      <a:noFill/>
                    </a:lnB>
                    <a:solidFill>
                      <a:srgbClr val="FFFFFF"/>
                    </a:solidFill>
                  </a:tcPr>
                </a:tc>
                <a:tc>
                  <a:txBody>
                    <a:bodyPr/>
                    <a:lstStyle/>
                    <a:p>
                      <a:pPr>
                        <a:buNone/>
                      </a:pPr>
                      <a:r>
                        <a:rPr lang="en-US" sz="2000" dirty="0">
                          <a:effectLst/>
                        </a:rPr>
                        <a:t>CloudWatch Alarm for </a:t>
                      </a:r>
                      <a:r>
                        <a:rPr lang="en-US" sz="2000" b="1" dirty="0" err="1">
                          <a:solidFill>
                            <a:srgbClr val="282A2C"/>
                          </a:solidFill>
                          <a:effectLst/>
                          <a:latin typeface="Courier New" panose="02070309020205020404" pitchFamily="49" charset="0"/>
                        </a:rPr>
                        <a:t>CPUUtilization</a:t>
                      </a:r>
                      <a:r>
                        <a:rPr lang="en-US" sz="2000" b="1" dirty="0">
                          <a:solidFill>
                            <a:srgbClr val="282A2C"/>
                          </a:solidFill>
                          <a:effectLst/>
                          <a:latin typeface="Courier New" panose="02070309020205020404" pitchFamily="49" charset="0"/>
                        </a:rPr>
                        <a:t> &gt; 75%</a:t>
                      </a:r>
                      <a:r>
                        <a:rPr lang="en-US" sz="2000" dirty="0">
                          <a:effectLst/>
                        </a:rPr>
                        <a:t> or high request counts.</a:t>
                      </a:r>
                    </a:p>
                  </a:txBody>
                  <a:tcPr marL="46183" marR="46183" marT="23092" marB="23092" anchor="ctr">
                    <a:lnL>
                      <a:noFill/>
                    </a:lnL>
                    <a:lnR>
                      <a:noFill/>
                    </a:lnR>
                    <a:lnT>
                      <a:noFill/>
                    </a:lnT>
                    <a:lnB>
                      <a:noFill/>
                    </a:lnB>
                    <a:solidFill>
                      <a:srgbClr val="FFFFFF"/>
                    </a:solidFill>
                  </a:tcPr>
                </a:tc>
                <a:tc>
                  <a:txBody>
                    <a:bodyPr/>
                    <a:lstStyle/>
                    <a:p>
                      <a:pPr>
                        <a:buNone/>
                      </a:pPr>
                      <a:r>
                        <a:rPr lang="en-US" sz="2000">
                          <a:effectLst/>
                        </a:rPr>
                        <a:t>Manually increase </a:t>
                      </a:r>
                      <a:r>
                        <a:rPr lang="en-US" sz="2000" b="1">
                          <a:effectLst/>
                        </a:rPr>
                        <a:t>ASG </a:t>
                      </a:r>
                      <a:r>
                        <a:rPr lang="en-US" sz="2000" b="1">
                          <a:solidFill>
                            <a:srgbClr val="282A2C"/>
                          </a:solidFill>
                          <a:effectLst/>
                          <a:latin typeface="Courier New" panose="02070309020205020404" pitchFamily="49" charset="0"/>
                        </a:rPr>
                        <a:t>MaxSize</a:t>
                      </a:r>
                      <a:r>
                        <a:rPr lang="en-US" sz="2000">
                          <a:effectLst/>
                        </a:rPr>
                        <a:t> and add temporary </a:t>
                      </a:r>
                      <a:r>
                        <a:rPr lang="en-US" sz="2000" b="1">
                          <a:effectLst/>
                        </a:rPr>
                        <a:t>RDS Read Replicas</a:t>
                      </a:r>
                      <a:r>
                        <a:rPr lang="en-US" sz="2000">
                          <a:effectLst/>
                        </a:rPr>
                        <a:t>.</a:t>
                      </a:r>
                    </a:p>
                  </a:txBody>
                  <a:tcPr marL="46183" marR="46183" marT="23092" marB="23092" anchor="ctr">
                    <a:lnL>
                      <a:noFill/>
                    </a:lnL>
                    <a:lnR>
                      <a:noFill/>
                    </a:lnR>
                    <a:lnT>
                      <a:noFill/>
                    </a:lnT>
                    <a:lnB>
                      <a:noFill/>
                    </a:lnB>
                    <a:solidFill>
                      <a:srgbClr val="FFFFFF"/>
                    </a:solidFill>
                  </a:tcPr>
                </a:tc>
                <a:extLst>
                  <a:ext uri="{0D108BD9-81ED-4DB2-BD59-A6C34878D82A}">
                    <a16:rowId xmlns:a16="http://schemas.microsoft.com/office/drawing/2014/main" val="3663720338"/>
                  </a:ext>
                </a:extLst>
              </a:tr>
              <a:tr h="1516225">
                <a:tc>
                  <a:txBody>
                    <a:bodyPr/>
                    <a:lstStyle/>
                    <a:p>
                      <a:pPr>
                        <a:buNone/>
                      </a:pPr>
                      <a:r>
                        <a:rPr lang="en-US" sz="2000" b="1">
                          <a:effectLst/>
                        </a:rPr>
                        <a:t>3. Cache Layer Unavailable</a:t>
                      </a:r>
                      <a:endParaRPr lang="en-US" sz="2000">
                        <a:effectLst/>
                      </a:endParaRPr>
                    </a:p>
                  </a:txBody>
                  <a:tcPr marL="46183" marR="46183" marT="23092" marB="23092" anchor="ctr">
                    <a:lnL>
                      <a:noFill/>
                    </a:lnL>
                    <a:lnR>
                      <a:noFill/>
                    </a:lnR>
                    <a:lnT>
                      <a:noFill/>
                    </a:lnT>
                    <a:lnB>
                      <a:noFill/>
                    </a:lnB>
                    <a:solidFill>
                      <a:srgbClr val="FFFFFF"/>
                    </a:solidFill>
                  </a:tcPr>
                </a:tc>
                <a:tc>
                  <a:txBody>
                    <a:bodyPr/>
                    <a:lstStyle/>
                    <a:p>
                      <a:pPr>
                        <a:buNone/>
                      </a:pPr>
                      <a:r>
                        <a:rPr lang="en-US" sz="2000" b="1">
                          <a:effectLst/>
                        </a:rPr>
                        <a:t>RDS becomes overwhelmed</a:t>
                      </a:r>
                      <a:r>
                        <a:rPr lang="en-US" sz="2000">
                          <a:effectLst/>
                        </a:rPr>
                        <a:t> by the sudden 25:1 read-to-write ratio shift.</a:t>
                      </a:r>
                    </a:p>
                  </a:txBody>
                  <a:tcPr marL="46183" marR="46183" marT="23092" marB="23092" anchor="ctr">
                    <a:lnL>
                      <a:noFill/>
                    </a:lnL>
                    <a:lnR>
                      <a:noFill/>
                    </a:lnR>
                    <a:lnT>
                      <a:noFill/>
                    </a:lnT>
                    <a:lnB>
                      <a:noFill/>
                    </a:lnB>
                    <a:solidFill>
                      <a:srgbClr val="FFFFFF"/>
                    </a:solidFill>
                  </a:tcPr>
                </a:tc>
                <a:tc>
                  <a:txBody>
                    <a:bodyPr/>
                    <a:lstStyle/>
                    <a:p>
                      <a:pPr>
                        <a:buNone/>
                      </a:pPr>
                      <a:r>
                        <a:rPr lang="en-US" sz="2000">
                          <a:effectLst/>
                        </a:rPr>
                        <a:t>App "fails open," fetching data directly from the DB to </a:t>
                      </a:r>
                      <a:r>
                        <a:rPr lang="en-US" sz="2000" b="1">
                          <a:effectLst/>
                        </a:rPr>
                        <a:t>maintain availability</a:t>
                      </a:r>
                      <a:r>
                        <a:rPr lang="en-US" sz="2000">
                          <a:effectLst/>
                        </a:rPr>
                        <a:t>.</a:t>
                      </a:r>
                    </a:p>
                  </a:txBody>
                  <a:tcPr marL="46183" marR="46183" marT="23092" marB="23092" anchor="ctr">
                    <a:lnL>
                      <a:noFill/>
                    </a:lnL>
                    <a:lnR>
                      <a:noFill/>
                    </a:lnR>
                    <a:lnT>
                      <a:noFill/>
                    </a:lnT>
                    <a:lnB>
                      <a:noFill/>
                    </a:lnB>
                    <a:solidFill>
                      <a:srgbClr val="FFFFFF"/>
                    </a:solidFill>
                  </a:tcPr>
                </a:tc>
                <a:tc>
                  <a:txBody>
                    <a:bodyPr/>
                    <a:lstStyle/>
                    <a:p>
                      <a:pPr>
                        <a:buNone/>
                      </a:pPr>
                      <a:r>
                        <a:rPr lang="en-US" sz="2000" dirty="0">
                          <a:effectLst/>
                        </a:rPr>
                        <a:t>CloudWatch Alarm for a sharp drop in </a:t>
                      </a:r>
                      <a:r>
                        <a:rPr lang="en-US" sz="2000" b="1" dirty="0" err="1">
                          <a:solidFill>
                            <a:srgbClr val="282A2C"/>
                          </a:solidFill>
                          <a:effectLst/>
                          <a:latin typeface="Courier New" panose="02070309020205020404" pitchFamily="49" charset="0"/>
                        </a:rPr>
                        <a:t>CacheHitRate</a:t>
                      </a:r>
                      <a:r>
                        <a:rPr lang="en-US" sz="2000" dirty="0">
                          <a:effectLst/>
                        </a:rPr>
                        <a:t>.</a:t>
                      </a:r>
                    </a:p>
                  </a:txBody>
                  <a:tcPr marL="46183" marR="46183" marT="23092" marB="23092" anchor="ctr">
                    <a:lnL>
                      <a:noFill/>
                    </a:lnL>
                    <a:lnR>
                      <a:noFill/>
                    </a:lnR>
                    <a:lnT>
                      <a:noFill/>
                    </a:lnT>
                    <a:lnB>
                      <a:noFill/>
                    </a:lnB>
                    <a:solidFill>
                      <a:srgbClr val="FFFFFF"/>
                    </a:solidFill>
                  </a:tcPr>
                </a:tc>
                <a:tc>
                  <a:txBody>
                    <a:bodyPr/>
                    <a:lstStyle/>
                    <a:p>
                      <a:pPr>
                        <a:buNone/>
                      </a:pPr>
                      <a:r>
                        <a:rPr lang="en-US" sz="2000">
                          <a:effectLst/>
                        </a:rPr>
                        <a:t>Provision additional </a:t>
                      </a:r>
                      <a:r>
                        <a:rPr lang="en-US" sz="2000" b="1">
                          <a:effectLst/>
                        </a:rPr>
                        <a:t>RDS Read Replicas</a:t>
                      </a:r>
                      <a:r>
                        <a:rPr lang="en-US" sz="2000">
                          <a:effectLst/>
                        </a:rPr>
                        <a:t> to handle direct read load until cache is restored.</a:t>
                      </a:r>
                    </a:p>
                  </a:txBody>
                  <a:tcPr marL="46183" marR="46183" marT="23092" marB="23092" anchor="ctr">
                    <a:lnL>
                      <a:noFill/>
                    </a:lnL>
                    <a:lnR>
                      <a:noFill/>
                    </a:lnR>
                    <a:lnT>
                      <a:noFill/>
                    </a:lnT>
                    <a:lnB>
                      <a:noFill/>
                    </a:lnB>
                    <a:solidFill>
                      <a:srgbClr val="FFFFFF"/>
                    </a:solidFill>
                  </a:tcPr>
                </a:tc>
                <a:extLst>
                  <a:ext uri="{0D108BD9-81ED-4DB2-BD59-A6C34878D82A}">
                    <a16:rowId xmlns:a16="http://schemas.microsoft.com/office/drawing/2014/main" val="2801632412"/>
                  </a:ext>
                </a:extLst>
              </a:tr>
              <a:tr h="1334277">
                <a:tc>
                  <a:txBody>
                    <a:bodyPr/>
                    <a:lstStyle/>
                    <a:p>
                      <a:pPr>
                        <a:buNone/>
                      </a:pPr>
                      <a:r>
                        <a:rPr lang="en-US" sz="2000" b="1" dirty="0">
                          <a:effectLst/>
                        </a:rPr>
                        <a:t>4. Stale Prices (Long TTL)</a:t>
                      </a:r>
                      <a:endParaRPr lang="en-US" sz="2000" dirty="0">
                        <a:effectLst/>
                      </a:endParaRPr>
                    </a:p>
                  </a:txBody>
                  <a:tcPr marL="46183" marR="46183" marT="23092" marB="23092" anchor="ctr">
                    <a:lnL>
                      <a:noFill/>
                    </a:lnL>
                    <a:lnR>
                      <a:noFill/>
                    </a:lnR>
                    <a:lnT>
                      <a:noFill/>
                    </a:lnT>
                    <a:lnB>
                      <a:noFill/>
                    </a:lnB>
                    <a:solidFill>
                      <a:srgbClr val="FFFFFF"/>
                    </a:solidFill>
                  </a:tcPr>
                </a:tc>
                <a:tc>
                  <a:txBody>
                    <a:bodyPr/>
                    <a:lstStyle/>
                    <a:p>
                      <a:pPr>
                        <a:buNone/>
                      </a:pPr>
                      <a:r>
                        <a:rPr lang="en-US" sz="2000">
                          <a:effectLst/>
                        </a:rPr>
                        <a:t>Users see </a:t>
                      </a:r>
                      <a:r>
                        <a:rPr lang="en-US" sz="2000" b="1">
                          <a:effectLst/>
                        </a:rPr>
                        <a:t>outdated pricing</a:t>
                      </a:r>
                      <a:r>
                        <a:rPr lang="en-US" sz="2000">
                          <a:effectLst/>
                        </a:rPr>
                        <a:t> (&gt;5 mins old), leading to customer complaints.</a:t>
                      </a:r>
                    </a:p>
                  </a:txBody>
                  <a:tcPr marL="46183" marR="46183" marT="23092" marB="23092" anchor="ctr">
                    <a:lnL>
                      <a:noFill/>
                    </a:lnL>
                    <a:lnR>
                      <a:noFill/>
                    </a:lnR>
                    <a:lnT>
                      <a:noFill/>
                    </a:lnT>
                    <a:lnB>
                      <a:noFill/>
                    </a:lnB>
                    <a:solidFill>
                      <a:srgbClr val="FFFFFF"/>
                    </a:solidFill>
                  </a:tcPr>
                </a:tc>
                <a:tc>
                  <a:txBody>
                    <a:bodyPr/>
                    <a:lstStyle/>
                    <a:p>
                      <a:pPr>
                        <a:buNone/>
                      </a:pPr>
                      <a:r>
                        <a:rPr lang="en-US" sz="2000" b="1">
                          <a:effectLst/>
                        </a:rPr>
                        <a:t>Checkout workflow</a:t>
                      </a:r>
                      <a:r>
                        <a:rPr lang="en-US" sz="2000">
                          <a:effectLst/>
                        </a:rPr>
                        <a:t> bypasses all caches to use 100% current RDS data.</a:t>
                      </a:r>
                    </a:p>
                  </a:txBody>
                  <a:tcPr marL="46183" marR="46183" marT="23092" marB="23092" anchor="ctr">
                    <a:lnL>
                      <a:noFill/>
                    </a:lnL>
                    <a:lnR>
                      <a:noFill/>
                    </a:lnR>
                    <a:lnT>
                      <a:noFill/>
                    </a:lnT>
                    <a:lnB>
                      <a:noFill/>
                    </a:lnB>
                    <a:solidFill>
                      <a:srgbClr val="FFFFFF"/>
                    </a:solidFill>
                  </a:tcPr>
                </a:tc>
                <a:tc>
                  <a:txBody>
                    <a:bodyPr/>
                    <a:lstStyle/>
                    <a:p>
                      <a:pPr>
                        <a:buNone/>
                      </a:pPr>
                      <a:r>
                        <a:rPr lang="en-US" sz="2000" b="1" dirty="0">
                          <a:effectLst/>
                        </a:rPr>
                        <a:t>CloudWatch Synthetics</a:t>
                      </a:r>
                      <a:r>
                        <a:rPr lang="en-US" sz="2000" dirty="0">
                          <a:effectLst/>
                        </a:rPr>
                        <a:t> canary detects mismatch between cache and origin.</a:t>
                      </a:r>
                    </a:p>
                  </a:txBody>
                  <a:tcPr marL="46183" marR="46183" marT="23092" marB="23092" anchor="ctr">
                    <a:lnL>
                      <a:noFill/>
                    </a:lnL>
                    <a:lnR>
                      <a:noFill/>
                    </a:lnR>
                    <a:lnT>
                      <a:noFill/>
                    </a:lnT>
                    <a:lnB>
                      <a:noFill/>
                    </a:lnB>
                    <a:solidFill>
                      <a:srgbClr val="FFFFFF"/>
                    </a:solidFill>
                  </a:tcPr>
                </a:tc>
                <a:tc>
                  <a:txBody>
                    <a:bodyPr/>
                    <a:lstStyle/>
                    <a:p>
                      <a:pPr>
                        <a:buNone/>
                      </a:pPr>
                      <a:r>
                        <a:rPr lang="en-US" sz="2000" dirty="0">
                          <a:effectLst/>
                        </a:rPr>
                        <a:t>Manually clear </a:t>
                      </a:r>
                      <a:r>
                        <a:rPr lang="en-US" sz="2000" b="1" dirty="0" err="1">
                          <a:effectLst/>
                        </a:rPr>
                        <a:t>ElastiCache</a:t>
                      </a:r>
                      <a:r>
                        <a:rPr lang="en-US" sz="2000" dirty="0">
                          <a:effectLst/>
                        </a:rPr>
                        <a:t> or trigger a </a:t>
                      </a:r>
                      <a:r>
                        <a:rPr lang="en-US" sz="2000" b="1" dirty="0">
                          <a:effectLst/>
                        </a:rPr>
                        <a:t>CloudFront Invalidation</a:t>
                      </a:r>
                      <a:r>
                        <a:rPr lang="en-US" sz="2000" dirty="0">
                          <a:effectLst/>
                        </a:rPr>
                        <a:t> via Lambda.</a:t>
                      </a:r>
                    </a:p>
                  </a:txBody>
                  <a:tcPr marL="46183" marR="46183" marT="23092" marB="23092" anchor="ctr">
                    <a:lnL>
                      <a:noFill/>
                    </a:lnL>
                    <a:lnR>
                      <a:noFill/>
                    </a:lnR>
                    <a:lnT>
                      <a:noFill/>
                    </a:lnT>
                    <a:lnB>
                      <a:noFill/>
                    </a:lnB>
                    <a:solidFill>
                      <a:srgbClr val="FFFFFF"/>
                    </a:solidFill>
                  </a:tcPr>
                </a:tc>
                <a:extLst>
                  <a:ext uri="{0D108BD9-81ED-4DB2-BD59-A6C34878D82A}">
                    <a16:rowId xmlns:a16="http://schemas.microsoft.com/office/drawing/2014/main" val="2250788485"/>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938901" y="-76532"/>
            <a:ext cx="16423965" cy="10437766"/>
          </a:xfrm>
          <a:custGeom>
            <a:avLst/>
            <a:gdLst/>
            <a:ahLst/>
            <a:cxnLst/>
            <a:rect l="l" t="t" r="r" b="b"/>
            <a:pathLst>
              <a:path w="16423965" h="10437766">
                <a:moveTo>
                  <a:pt x="0" y="0"/>
                </a:moveTo>
                <a:lnTo>
                  <a:pt x="16423964" y="0"/>
                </a:lnTo>
                <a:lnTo>
                  <a:pt x="16423964" y="10437765"/>
                </a:lnTo>
                <a:lnTo>
                  <a:pt x="0" y="1043776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3" name="Group 3"/>
          <p:cNvGrpSpPr/>
          <p:nvPr/>
        </p:nvGrpSpPr>
        <p:grpSpPr>
          <a:xfrm>
            <a:off x="1132551" y="106257"/>
            <a:ext cx="15112362" cy="9573854"/>
            <a:chOff x="0" y="0"/>
            <a:chExt cx="20149817" cy="12765139"/>
          </a:xfrm>
        </p:grpSpPr>
        <p:sp>
          <p:nvSpPr>
            <p:cNvPr id="4" name="TextBox 4"/>
            <p:cNvSpPr txBox="1"/>
            <p:nvPr/>
          </p:nvSpPr>
          <p:spPr>
            <a:xfrm>
              <a:off x="1181166" y="3316973"/>
              <a:ext cx="1404771" cy="341428"/>
            </a:xfrm>
            <a:prstGeom prst="rect">
              <a:avLst/>
            </a:prstGeom>
          </p:spPr>
          <p:txBody>
            <a:bodyPr lIns="0" tIns="0" rIns="0" bIns="0" rtlCol="0" anchor="t">
              <a:spAutoFit/>
            </a:bodyPr>
            <a:lstStyle/>
            <a:p>
              <a:pPr algn="l">
                <a:lnSpc>
                  <a:spcPts val="1687"/>
                </a:lnSpc>
              </a:pPr>
              <a:r>
                <a:rPr lang="en-US" sz="1205" spc="27">
                  <a:solidFill>
                    <a:srgbClr val="000000">
                      <a:alpha val="0"/>
                    </a:srgbClr>
                  </a:solidFill>
                  <a:latin typeface="Helvetica"/>
                  <a:ea typeface="Helvetica"/>
                  <a:cs typeface="Helvetica"/>
                  <a:sym typeface="Helvetica"/>
                </a:rPr>
                <a:t>Users (Global)</a:t>
              </a:r>
            </a:p>
          </p:txBody>
        </p:sp>
        <p:sp>
          <p:nvSpPr>
            <p:cNvPr id="5" name="TextBox 5"/>
            <p:cNvSpPr txBox="1"/>
            <p:nvPr/>
          </p:nvSpPr>
          <p:spPr>
            <a:xfrm>
              <a:off x="1239949" y="1581044"/>
              <a:ext cx="1520270" cy="341428"/>
            </a:xfrm>
            <a:prstGeom prst="rect">
              <a:avLst/>
            </a:prstGeom>
          </p:spPr>
          <p:txBody>
            <a:bodyPr lIns="0" tIns="0" rIns="0" bIns="0" rtlCol="0" anchor="t">
              <a:spAutoFit/>
            </a:bodyPr>
            <a:lstStyle/>
            <a:p>
              <a:pPr algn="l">
                <a:lnSpc>
                  <a:spcPts val="1687"/>
                </a:lnSpc>
              </a:pPr>
              <a:r>
                <a:rPr lang="en-US" sz="1205" spc="37">
                  <a:solidFill>
                    <a:srgbClr val="000000">
                      <a:alpha val="0"/>
                    </a:srgbClr>
                  </a:solidFill>
                  <a:latin typeface="Helvetica"/>
                  <a:ea typeface="Helvetica"/>
                  <a:cs typeface="Helvetica"/>
                  <a:sym typeface="Helvetica"/>
                </a:rPr>
                <a:t>Internet / Users</a:t>
              </a:r>
            </a:p>
          </p:txBody>
        </p:sp>
        <p:sp>
          <p:nvSpPr>
            <p:cNvPr id="6" name="TextBox 6"/>
            <p:cNvSpPr txBox="1"/>
            <p:nvPr/>
          </p:nvSpPr>
          <p:spPr>
            <a:xfrm>
              <a:off x="4381154" y="3307448"/>
              <a:ext cx="937754" cy="350953"/>
            </a:xfrm>
            <a:prstGeom prst="rect">
              <a:avLst/>
            </a:prstGeom>
          </p:spPr>
          <p:txBody>
            <a:bodyPr lIns="0" tIns="0" rIns="0" bIns="0" rtlCol="0" anchor="t">
              <a:spAutoFit/>
            </a:bodyPr>
            <a:lstStyle/>
            <a:p>
              <a:pPr algn="l">
                <a:lnSpc>
                  <a:spcPts val="1746"/>
                </a:lnSpc>
              </a:pPr>
              <a:r>
                <a:rPr lang="en-US" sz="1205" spc="25">
                  <a:solidFill>
                    <a:srgbClr val="000000">
                      <a:alpha val="0"/>
                    </a:srgbClr>
                  </a:solidFill>
                  <a:latin typeface="Helvetica"/>
                  <a:ea typeface="Helvetica"/>
                  <a:cs typeface="Helvetica"/>
                  <a:sym typeface="Helvetica"/>
                </a:rPr>
                <a:t>Route 53 </a:t>
              </a:r>
            </a:p>
          </p:txBody>
        </p:sp>
        <p:sp>
          <p:nvSpPr>
            <p:cNvPr id="7" name="TextBox 7"/>
            <p:cNvSpPr txBox="1"/>
            <p:nvPr/>
          </p:nvSpPr>
          <p:spPr>
            <a:xfrm>
              <a:off x="4072544" y="3603199"/>
              <a:ext cx="1501425" cy="350953"/>
            </a:xfrm>
            <a:prstGeom prst="rect">
              <a:avLst/>
            </a:prstGeom>
          </p:spPr>
          <p:txBody>
            <a:bodyPr lIns="0" tIns="0" rIns="0" bIns="0" rtlCol="0" anchor="t">
              <a:spAutoFit/>
            </a:bodyPr>
            <a:lstStyle/>
            <a:p>
              <a:pPr algn="l">
                <a:lnSpc>
                  <a:spcPts val="1746"/>
                </a:lnSpc>
              </a:pPr>
              <a:r>
                <a:rPr lang="en-US" sz="1205" spc="45">
                  <a:solidFill>
                    <a:srgbClr val="000000">
                      <a:alpha val="0"/>
                    </a:srgbClr>
                  </a:solidFill>
                  <a:latin typeface="Helvetica"/>
                  <a:ea typeface="Helvetica"/>
                  <a:cs typeface="Helvetica"/>
                  <a:sym typeface="Helvetica"/>
                </a:rPr>
                <a:t>(dealdrop.com)</a:t>
              </a:r>
            </a:p>
          </p:txBody>
        </p:sp>
        <p:sp>
          <p:nvSpPr>
            <p:cNvPr id="8" name="TextBox 8"/>
            <p:cNvSpPr txBox="1"/>
            <p:nvPr/>
          </p:nvSpPr>
          <p:spPr>
            <a:xfrm>
              <a:off x="7118227" y="1581044"/>
              <a:ext cx="495827" cy="341428"/>
            </a:xfrm>
            <a:prstGeom prst="rect">
              <a:avLst/>
            </a:prstGeom>
          </p:spPr>
          <p:txBody>
            <a:bodyPr lIns="0" tIns="0" rIns="0" bIns="0" rtlCol="0" anchor="t">
              <a:spAutoFit/>
            </a:bodyPr>
            <a:lstStyle/>
            <a:p>
              <a:pPr algn="l">
                <a:lnSpc>
                  <a:spcPts val="1687"/>
                </a:lnSpc>
              </a:pPr>
              <a:r>
                <a:rPr lang="en-US" sz="1205" spc="19">
                  <a:solidFill>
                    <a:srgbClr val="000000">
                      <a:alpha val="0"/>
                    </a:srgbClr>
                  </a:solidFill>
                  <a:latin typeface="Helvetica"/>
                  <a:ea typeface="Helvetica"/>
                  <a:cs typeface="Helvetica"/>
                  <a:sym typeface="Helvetica"/>
                </a:rPr>
                <a:t>Edge</a:t>
              </a:r>
            </a:p>
          </p:txBody>
        </p:sp>
        <p:sp>
          <p:nvSpPr>
            <p:cNvPr id="9" name="TextBox 9"/>
            <p:cNvSpPr txBox="1"/>
            <p:nvPr/>
          </p:nvSpPr>
          <p:spPr>
            <a:xfrm>
              <a:off x="7219259" y="3307448"/>
              <a:ext cx="1143080" cy="350953"/>
            </a:xfrm>
            <a:prstGeom prst="rect">
              <a:avLst/>
            </a:prstGeom>
          </p:spPr>
          <p:txBody>
            <a:bodyPr lIns="0" tIns="0" rIns="0" bIns="0" rtlCol="0" anchor="t">
              <a:spAutoFit/>
            </a:bodyPr>
            <a:lstStyle/>
            <a:p>
              <a:pPr algn="l">
                <a:lnSpc>
                  <a:spcPts val="1746"/>
                </a:lnSpc>
              </a:pPr>
              <a:r>
                <a:rPr lang="en-US" sz="1205" spc="32">
                  <a:solidFill>
                    <a:srgbClr val="000000">
                      <a:alpha val="0"/>
                    </a:srgbClr>
                  </a:solidFill>
                  <a:latin typeface="Helvetica"/>
                  <a:ea typeface="Helvetica"/>
                  <a:cs typeface="Helvetica"/>
                  <a:sym typeface="Helvetica"/>
                </a:rPr>
                <a:t>CloudFront </a:t>
              </a:r>
            </a:p>
          </p:txBody>
        </p:sp>
        <p:sp>
          <p:nvSpPr>
            <p:cNvPr id="10" name="TextBox 10"/>
            <p:cNvSpPr txBox="1"/>
            <p:nvPr/>
          </p:nvSpPr>
          <p:spPr>
            <a:xfrm>
              <a:off x="7238548" y="3603199"/>
              <a:ext cx="1036031" cy="743129"/>
            </a:xfrm>
            <a:prstGeom prst="rect">
              <a:avLst/>
            </a:prstGeom>
          </p:spPr>
          <p:txBody>
            <a:bodyPr lIns="0" tIns="0" rIns="0" bIns="0" rtlCol="0" anchor="t">
              <a:spAutoFit/>
            </a:bodyPr>
            <a:lstStyle/>
            <a:p>
              <a:pPr algn="ctr">
                <a:lnSpc>
                  <a:spcPts val="1746"/>
                </a:lnSpc>
              </a:pPr>
              <a:r>
                <a:rPr lang="en-US" sz="1205" spc="21">
                  <a:solidFill>
                    <a:srgbClr val="000000">
                      <a:alpha val="0"/>
                    </a:srgbClr>
                  </a:solidFill>
                  <a:latin typeface="Helvetica"/>
                  <a:ea typeface="Helvetica"/>
                  <a:cs typeface="Helvetica"/>
                  <a:sym typeface="Helvetica"/>
                </a:rPr>
                <a:t>(CDN)</a:t>
              </a:r>
            </a:p>
            <a:p>
              <a:pPr algn="ctr">
                <a:lnSpc>
                  <a:spcPts val="1349"/>
                </a:lnSpc>
              </a:pPr>
              <a:r>
                <a:rPr lang="en-US" sz="963" b="1" i="1" spc="44">
                  <a:solidFill>
                    <a:srgbClr val="000000">
                      <a:alpha val="0"/>
                    </a:srgbClr>
                  </a:solidFill>
                  <a:latin typeface="Helvetica Bold Italics"/>
                  <a:ea typeface="Helvetica Bold Italics"/>
                  <a:cs typeface="Helvetica Bold Italics"/>
                  <a:sym typeface="Helvetica Bold Italics"/>
                </a:rPr>
                <a:t>Static assets</a:t>
              </a:r>
            </a:p>
          </p:txBody>
        </p:sp>
        <p:sp>
          <p:nvSpPr>
            <p:cNvPr id="11" name="TextBox 11"/>
            <p:cNvSpPr txBox="1"/>
            <p:nvPr/>
          </p:nvSpPr>
          <p:spPr>
            <a:xfrm>
              <a:off x="6988721" y="9181133"/>
              <a:ext cx="1613832" cy="350953"/>
            </a:xfrm>
            <a:prstGeom prst="rect">
              <a:avLst/>
            </a:prstGeom>
          </p:spPr>
          <p:txBody>
            <a:bodyPr lIns="0" tIns="0" rIns="0" bIns="0" rtlCol="0" anchor="t">
              <a:spAutoFit/>
            </a:bodyPr>
            <a:lstStyle/>
            <a:p>
              <a:pPr algn="l">
                <a:lnSpc>
                  <a:spcPts val="1735"/>
                </a:lnSpc>
              </a:pPr>
              <a:r>
                <a:rPr lang="en-US" sz="1205" spc="33">
                  <a:solidFill>
                    <a:srgbClr val="000000">
                      <a:alpha val="0"/>
                    </a:srgbClr>
                  </a:solidFill>
                  <a:latin typeface="Helvetica"/>
                  <a:ea typeface="Helvetica"/>
                  <a:cs typeface="Helvetica"/>
                  <a:sym typeface="Helvetica"/>
                </a:rPr>
                <a:t>Lambda (Cache </a:t>
              </a:r>
            </a:p>
          </p:txBody>
        </p:sp>
        <p:sp>
          <p:nvSpPr>
            <p:cNvPr id="12" name="TextBox 12"/>
            <p:cNvSpPr txBox="1"/>
            <p:nvPr/>
          </p:nvSpPr>
          <p:spPr>
            <a:xfrm>
              <a:off x="7165069" y="9475047"/>
              <a:ext cx="1189218" cy="350953"/>
            </a:xfrm>
            <a:prstGeom prst="rect">
              <a:avLst/>
            </a:prstGeom>
          </p:spPr>
          <p:txBody>
            <a:bodyPr lIns="0" tIns="0" rIns="0" bIns="0" rtlCol="0" anchor="t">
              <a:spAutoFit/>
            </a:bodyPr>
            <a:lstStyle/>
            <a:p>
              <a:pPr algn="l">
                <a:lnSpc>
                  <a:spcPts val="1735"/>
                </a:lnSpc>
              </a:pPr>
              <a:r>
                <a:rPr lang="en-US" sz="1205" spc="32">
                  <a:solidFill>
                    <a:srgbClr val="000000">
                      <a:alpha val="0"/>
                    </a:srgbClr>
                  </a:solidFill>
                  <a:latin typeface="Helvetica"/>
                  <a:ea typeface="Helvetica"/>
                  <a:cs typeface="Helvetica"/>
                  <a:sym typeface="Helvetica"/>
                </a:rPr>
                <a:t>Invalidation)</a:t>
              </a:r>
            </a:p>
          </p:txBody>
        </p:sp>
        <p:sp>
          <p:nvSpPr>
            <p:cNvPr id="13" name="TextBox 13"/>
            <p:cNvSpPr txBox="1"/>
            <p:nvPr/>
          </p:nvSpPr>
          <p:spPr>
            <a:xfrm>
              <a:off x="6931775" y="6246587"/>
              <a:ext cx="1730066" cy="350953"/>
            </a:xfrm>
            <a:prstGeom prst="rect">
              <a:avLst/>
            </a:prstGeom>
          </p:spPr>
          <p:txBody>
            <a:bodyPr lIns="0" tIns="0" rIns="0" bIns="0" rtlCol="0" anchor="t">
              <a:spAutoFit/>
            </a:bodyPr>
            <a:lstStyle/>
            <a:p>
              <a:pPr algn="l">
                <a:lnSpc>
                  <a:spcPts val="1746"/>
                </a:lnSpc>
              </a:pPr>
              <a:r>
                <a:rPr lang="en-US" sz="1205" spc="30">
                  <a:solidFill>
                    <a:srgbClr val="000000">
                      <a:alpha val="0"/>
                    </a:srgbClr>
                  </a:solidFill>
                  <a:latin typeface="Helvetica"/>
                  <a:ea typeface="Helvetica"/>
                  <a:cs typeface="Helvetica"/>
                  <a:sym typeface="Helvetica"/>
                </a:rPr>
                <a:t>S3 (Static Assets </a:t>
              </a:r>
            </a:p>
          </p:txBody>
        </p:sp>
        <p:sp>
          <p:nvSpPr>
            <p:cNvPr id="14" name="TextBox 14"/>
            <p:cNvSpPr txBox="1"/>
            <p:nvPr/>
          </p:nvSpPr>
          <p:spPr>
            <a:xfrm>
              <a:off x="7189868" y="6542337"/>
              <a:ext cx="1138243" cy="743129"/>
            </a:xfrm>
            <a:prstGeom prst="rect">
              <a:avLst/>
            </a:prstGeom>
          </p:spPr>
          <p:txBody>
            <a:bodyPr lIns="0" tIns="0" rIns="0" bIns="0" rtlCol="0" anchor="t">
              <a:spAutoFit/>
            </a:bodyPr>
            <a:lstStyle/>
            <a:p>
              <a:pPr algn="ctr">
                <a:lnSpc>
                  <a:spcPts val="1746"/>
                </a:lnSpc>
              </a:pPr>
              <a:r>
                <a:rPr lang="en-US" sz="1205" spc="36">
                  <a:solidFill>
                    <a:srgbClr val="000000">
                      <a:alpha val="0"/>
                    </a:srgbClr>
                  </a:solidFill>
                  <a:latin typeface="Helvetica"/>
                  <a:ea typeface="Helvetica"/>
                  <a:cs typeface="Helvetica"/>
                  <a:sym typeface="Helvetica"/>
                </a:rPr>
                <a:t>Origin)</a:t>
              </a:r>
            </a:p>
            <a:p>
              <a:pPr algn="ctr">
                <a:lnSpc>
                  <a:spcPts val="1349"/>
                </a:lnSpc>
              </a:pPr>
              <a:r>
                <a:rPr lang="en-US" sz="963" b="1" i="1" spc="49">
                  <a:solidFill>
                    <a:srgbClr val="000000">
                      <a:alpha val="0"/>
                    </a:srgbClr>
                  </a:solidFill>
                  <a:latin typeface="Helvetica Bold Italics"/>
                  <a:ea typeface="Helvetica Bold Italics"/>
                  <a:cs typeface="Helvetica Bold Italics"/>
                  <a:sym typeface="Helvetica Bold Italics"/>
                </a:rPr>
                <a:t>Object update</a:t>
              </a:r>
            </a:p>
          </p:txBody>
        </p:sp>
        <p:sp>
          <p:nvSpPr>
            <p:cNvPr id="15" name="TextBox 15"/>
            <p:cNvSpPr txBox="1"/>
            <p:nvPr/>
          </p:nvSpPr>
          <p:spPr>
            <a:xfrm>
              <a:off x="8266328" y="7459321"/>
              <a:ext cx="1936464" cy="341428"/>
            </a:xfrm>
            <a:prstGeom prst="rect">
              <a:avLst/>
            </a:prstGeom>
          </p:spPr>
          <p:txBody>
            <a:bodyPr lIns="0" tIns="0" rIns="0" bIns="0" rtlCol="0" anchor="t">
              <a:spAutoFit/>
            </a:bodyPr>
            <a:lstStyle/>
            <a:p>
              <a:pPr algn="l">
                <a:lnSpc>
                  <a:spcPts val="1687"/>
                </a:lnSpc>
              </a:pPr>
              <a:r>
                <a:rPr lang="en-US" sz="1205" spc="31">
                  <a:solidFill>
                    <a:srgbClr val="000000">
                      <a:alpha val="0"/>
                    </a:srgbClr>
                  </a:solidFill>
                  <a:latin typeface="Helvetica"/>
                  <a:ea typeface="Helvetica"/>
                  <a:cs typeface="Helvetica"/>
                  <a:sym typeface="Helvetica"/>
                </a:rPr>
                <a:t>Observability &amp; Ops</a:t>
              </a:r>
            </a:p>
          </p:txBody>
        </p:sp>
        <p:sp>
          <p:nvSpPr>
            <p:cNvPr id="16" name="TextBox 16"/>
            <p:cNvSpPr txBox="1"/>
            <p:nvPr/>
          </p:nvSpPr>
          <p:spPr>
            <a:xfrm>
              <a:off x="10103289" y="9190658"/>
              <a:ext cx="1189769" cy="341428"/>
            </a:xfrm>
            <a:prstGeom prst="rect">
              <a:avLst/>
            </a:prstGeom>
          </p:spPr>
          <p:txBody>
            <a:bodyPr lIns="0" tIns="0" rIns="0" bIns="0" rtlCol="0" anchor="t">
              <a:spAutoFit/>
            </a:bodyPr>
            <a:lstStyle/>
            <a:p>
              <a:pPr algn="l">
                <a:lnSpc>
                  <a:spcPts val="1687"/>
                </a:lnSpc>
              </a:pPr>
              <a:r>
                <a:rPr lang="en-US" sz="1205" spc="36">
                  <a:solidFill>
                    <a:srgbClr val="000000">
                      <a:alpha val="0"/>
                    </a:srgbClr>
                  </a:solidFill>
                  <a:latin typeface="Helvetica"/>
                  <a:ea typeface="Helvetica"/>
                  <a:cs typeface="Helvetica"/>
                  <a:sym typeface="Helvetica"/>
                </a:rPr>
                <a:t>CloudWatch</a:t>
              </a:r>
            </a:p>
          </p:txBody>
        </p:sp>
        <p:sp>
          <p:nvSpPr>
            <p:cNvPr id="17" name="TextBox 17"/>
            <p:cNvSpPr txBox="1"/>
            <p:nvPr/>
          </p:nvSpPr>
          <p:spPr>
            <a:xfrm>
              <a:off x="9892039" y="6246587"/>
              <a:ext cx="1668834" cy="646704"/>
            </a:xfrm>
            <a:prstGeom prst="rect">
              <a:avLst/>
            </a:prstGeom>
          </p:spPr>
          <p:txBody>
            <a:bodyPr lIns="0" tIns="0" rIns="0" bIns="0" rtlCol="0" anchor="t">
              <a:spAutoFit/>
            </a:bodyPr>
            <a:lstStyle/>
            <a:p>
              <a:pPr algn="ctr">
                <a:lnSpc>
                  <a:spcPts val="1750"/>
                </a:lnSpc>
              </a:pPr>
              <a:r>
                <a:rPr lang="en-US" sz="1205">
                  <a:solidFill>
                    <a:srgbClr val="000000">
                      <a:alpha val="0"/>
                    </a:srgbClr>
                  </a:solidFill>
                  <a:latin typeface="Helvetica"/>
                  <a:ea typeface="Helvetica"/>
                  <a:cs typeface="Helvetica"/>
                  <a:sym typeface="Helvetica"/>
                </a:rPr>
                <a:t>EC2 (Web/Checkout) </a:t>
              </a:r>
            </a:p>
          </p:txBody>
        </p:sp>
        <p:sp>
          <p:nvSpPr>
            <p:cNvPr id="18" name="TextBox 18"/>
            <p:cNvSpPr txBox="1"/>
            <p:nvPr/>
          </p:nvSpPr>
          <p:spPr>
            <a:xfrm>
              <a:off x="10617639" y="6839007"/>
              <a:ext cx="138844" cy="350953"/>
            </a:xfrm>
            <a:prstGeom prst="rect">
              <a:avLst/>
            </a:prstGeom>
          </p:spPr>
          <p:txBody>
            <a:bodyPr lIns="0" tIns="0" rIns="0" bIns="0" rtlCol="0" anchor="t">
              <a:spAutoFit/>
            </a:bodyPr>
            <a:lstStyle/>
            <a:p>
              <a:pPr algn="l">
                <a:lnSpc>
                  <a:spcPts val="1750"/>
                </a:lnSpc>
              </a:pPr>
              <a:r>
                <a:rPr lang="en-US" sz="1205">
                  <a:solidFill>
                    <a:srgbClr val="000000">
                      <a:alpha val="0"/>
                    </a:srgbClr>
                  </a:solidFill>
                  <a:latin typeface="Helvetica"/>
                  <a:ea typeface="Helvetica"/>
                  <a:cs typeface="Helvetica"/>
                  <a:sym typeface="Helvetica"/>
                </a:rPr>
                <a:t>B</a:t>
              </a:r>
            </a:p>
          </p:txBody>
        </p:sp>
        <p:sp>
          <p:nvSpPr>
            <p:cNvPr id="19" name="TextBox 19"/>
            <p:cNvSpPr txBox="1"/>
            <p:nvPr/>
          </p:nvSpPr>
          <p:spPr>
            <a:xfrm>
              <a:off x="9800191" y="4520183"/>
              <a:ext cx="1806438" cy="341428"/>
            </a:xfrm>
            <a:prstGeom prst="rect">
              <a:avLst/>
            </a:prstGeom>
          </p:spPr>
          <p:txBody>
            <a:bodyPr lIns="0" tIns="0" rIns="0" bIns="0" rtlCol="0" anchor="t">
              <a:spAutoFit/>
            </a:bodyPr>
            <a:lstStyle/>
            <a:p>
              <a:pPr algn="l">
                <a:lnSpc>
                  <a:spcPts val="1687"/>
                </a:lnSpc>
              </a:pPr>
              <a:r>
                <a:rPr lang="en-US" sz="1205">
                  <a:solidFill>
                    <a:srgbClr val="000000">
                      <a:alpha val="0"/>
                    </a:srgbClr>
                  </a:solidFill>
                  <a:latin typeface="Helvetica"/>
                  <a:ea typeface="Helvetica"/>
                  <a:cs typeface="Helvetica"/>
                  <a:sym typeface="Helvetica"/>
                </a:rPr>
                <a:t>AvaiDlaabtiali tLya Zyeorne B</a:t>
              </a:r>
            </a:p>
          </p:txBody>
        </p:sp>
        <p:sp>
          <p:nvSpPr>
            <p:cNvPr id="20" name="TextBox 20"/>
            <p:cNvSpPr txBox="1"/>
            <p:nvPr/>
          </p:nvSpPr>
          <p:spPr>
            <a:xfrm>
              <a:off x="9873669" y="3307448"/>
              <a:ext cx="1708313" cy="350953"/>
            </a:xfrm>
            <a:prstGeom prst="rect">
              <a:avLst/>
            </a:prstGeom>
          </p:spPr>
          <p:txBody>
            <a:bodyPr lIns="0" tIns="0" rIns="0" bIns="0" rtlCol="0" anchor="t">
              <a:spAutoFit/>
            </a:bodyPr>
            <a:lstStyle/>
            <a:p>
              <a:pPr algn="l">
                <a:lnSpc>
                  <a:spcPts val="1746"/>
                </a:lnSpc>
              </a:pPr>
              <a:r>
                <a:rPr lang="en-US" sz="1205" spc="39">
                  <a:solidFill>
                    <a:srgbClr val="000000">
                      <a:alpha val="0"/>
                    </a:srgbClr>
                  </a:solidFill>
                  <a:latin typeface="Helvetica"/>
                  <a:ea typeface="Helvetica"/>
                  <a:cs typeface="Helvetica"/>
                  <a:sym typeface="Helvetica"/>
                </a:rPr>
                <a:t>Application Load </a:t>
              </a:r>
            </a:p>
          </p:txBody>
        </p:sp>
        <p:sp>
          <p:nvSpPr>
            <p:cNvPr id="21" name="TextBox 21"/>
            <p:cNvSpPr txBox="1"/>
            <p:nvPr/>
          </p:nvSpPr>
          <p:spPr>
            <a:xfrm>
              <a:off x="9965517" y="3603199"/>
              <a:ext cx="1460783" cy="350953"/>
            </a:xfrm>
            <a:prstGeom prst="rect">
              <a:avLst/>
            </a:prstGeom>
          </p:spPr>
          <p:txBody>
            <a:bodyPr lIns="0" tIns="0" rIns="0" bIns="0" rtlCol="0" anchor="t">
              <a:spAutoFit/>
            </a:bodyPr>
            <a:lstStyle/>
            <a:p>
              <a:pPr algn="l">
                <a:lnSpc>
                  <a:spcPts val="1746"/>
                </a:lnSpc>
              </a:pPr>
              <a:r>
                <a:rPr lang="en-US" sz="1205" spc="21">
                  <a:solidFill>
                    <a:srgbClr val="000000">
                      <a:alpha val="0"/>
                    </a:srgbClr>
                  </a:solidFill>
                  <a:latin typeface="Helvetica"/>
                  <a:ea typeface="Helvetica"/>
                  <a:cs typeface="Helvetica"/>
                  <a:sym typeface="Helvetica"/>
                </a:rPr>
                <a:t>Balancer (ALB)</a:t>
              </a:r>
            </a:p>
          </p:txBody>
        </p:sp>
        <p:sp>
          <p:nvSpPr>
            <p:cNvPr id="22" name="TextBox 22"/>
            <p:cNvSpPr txBox="1"/>
            <p:nvPr/>
          </p:nvSpPr>
          <p:spPr>
            <a:xfrm>
              <a:off x="10057365" y="1581044"/>
              <a:ext cx="1822756" cy="341428"/>
            </a:xfrm>
            <a:prstGeom prst="rect">
              <a:avLst/>
            </a:prstGeom>
          </p:spPr>
          <p:txBody>
            <a:bodyPr lIns="0" tIns="0" rIns="0" bIns="0" rtlCol="0" anchor="t">
              <a:spAutoFit/>
            </a:bodyPr>
            <a:lstStyle/>
            <a:p>
              <a:pPr algn="l">
                <a:lnSpc>
                  <a:spcPts val="1687"/>
                </a:lnSpc>
              </a:pPr>
              <a:r>
                <a:rPr lang="en-US" sz="1205" spc="10">
                  <a:solidFill>
                    <a:srgbClr val="000000">
                      <a:alpha val="0"/>
                    </a:srgbClr>
                  </a:solidFill>
                  <a:latin typeface="Helvetica"/>
                  <a:ea typeface="Helvetica"/>
                  <a:cs typeface="Helvetica"/>
                  <a:sym typeface="Helvetica"/>
                </a:rPr>
                <a:t>AWS Region / VPC</a:t>
              </a:r>
            </a:p>
          </p:txBody>
        </p:sp>
        <p:sp>
          <p:nvSpPr>
            <p:cNvPr id="23" name="TextBox 23"/>
            <p:cNvSpPr txBox="1"/>
            <p:nvPr/>
          </p:nvSpPr>
          <p:spPr>
            <a:xfrm>
              <a:off x="13060798" y="6246587"/>
              <a:ext cx="1210680" cy="350953"/>
            </a:xfrm>
            <a:prstGeom prst="rect">
              <a:avLst/>
            </a:prstGeom>
          </p:spPr>
          <p:txBody>
            <a:bodyPr lIns="0" tIns="0" rIns="0" bIns="0" rtlCol="0" anchor="t">
              <a:spAutoFit/>
            </a:bodyPr>
            <a:lstStyle/>
            <a:p>
              <a:pPr algn="l">
                <a:lnSpc>
                  <a:spcPts val="1746"/>
                </a:lnSpc>
              </a:pPr>
              <a:r>
                <a:rPr lang="en-US" sz="1205" spc="21">
                  <a:solidFill>
                    <a:srgbClr val="000000">
                      <a:alpha val="0"/>
                    </a:srgbClr>
                  </a:solidFill>
                  <a:latin typeface="Helvetica"/>
                  <a:ea typeface="Helvetica"/>
                  <a:cs typeface="Helvetica"/>
                  <a:sym typeface="Helvetica"/>
                </a:rPr>
                <a:t>ElastiCache </a:t>
              </a:r>
            </a:p>
          </p:txBody>
        </p:sp>
        <p:sp>
          <p:nvSpPr>
            <p:cNvPr id="24" name="TextBox 24"/>
            <p:cNvSpPr txBox="1"/>
            <p:nvPr/>
          </p:nvSpPr>
          <p:spPr>
            <a:xfrm>
              <a:off x="13290418" y="6542337"/>
              <a:ext cx="685080" cy="350953"/>
            </a:xfrm>
            <a:prstGeom prst="rect">
              <a:avLst/>
            </a:prstGeom>
          </p:spPr>
          <p:txBody>
            <a:bodyPr lIns="0" tIns="0" rIns="0" bIns="0" rtlCol="0" anchor="t">
              <a:spAutoFit/>
            </a:bodyPr>
            <a:lstStyle/>
            <a:p>
              <a:pPr algn="l">
                <a:lnSpc>
                  <a:spcPts val="1746"/>
                </a:lnSpc>
              </a:pPr>
              <a:r>
                <a:rPr lang="en-US" sz="1205" spc="13">
                  <a:solidFill>
                    <a:srgbClr val="000000">
                      <a:alpha val="0"/>
                    </a:srgbClr>
                  </a:solidFill>
                  <a:latin typeface="Helvetica"/>
                  <a:ea typeface="Helvetica"/>
                  <a:cs typeface="Helvetica"/>
                  <a:sym typeface="Helvetica"/>
                </a:rPr>
                <a:t>(Redis)</a:t>
              </a:r>
            </a:p>
          </p:txBody>
        </p:sp>
        <p:sp>
          <p:nvSpPr>
            <p:cNvPr id="25" name="TextBox 25"/>
            <p:cNvSpPr txBox="1"/>
            <p:nvPr/>
          </p:nvSpPr>
          <p:spPr>
            <a:xfrm>
              <a:off x="13171015" y="12120272"/>
              <a:ext cx="983877" cy="350953"/>
            </a:xfrm>
            <a:prstGeom prst="rect">
              <a:avLst/>
            </a:prstGeom>
          </p:spPr>
          <p:txBody>
            <a:bodyPr lIns="0" tIns="0" rIns="0" bIns="0" rtlCol="0" anchor="t">
              <a:spAutoFit/>
            </a:bodyPr>
            <a:lstStyle/>
            <a:p>
              <a:pPr algn="l">
                <a:lnSpc>
                  <a:spcPts val="1735"/>
                </a:lnSpc>
              </a:pPr>
              <a:r>
                <a:rPr lang="en-US" sz="1205" spc="25">
                  <a:solidFill>
                    <a:srgbClr val="000000">
                      <a:alpha val="0"/>
                    </a:srgbClr>
                  </a:solidFill>
                  <a:latin typeface="Helvetica"/>
                  <a:ea typeface="Helvetica"/>
                  <a:cs typeface="Helvetica"/>
                  <a:sym typeface="Helvetica"/>
                </a:rPr>
                <a:t>EC2 Auto </a:t>
              </a:r>
            </a:p>
          </p:txBody>
        </p:sp>
        <p:sp>
          <p:nvSpPr>
            <p:cNvPr id="26" name="TextBox 26"/>
            <p:cNvSpPr txBox="1"/>
            <p:nvPr/>
          </p:nvSpPr>
          <p:spPr>
            <a:xfrm>
              <a:off x="12941395" y="12414185"/>
              <a:ext cx="1380737" cy="350953"/>
            </a:xfrm>
            <a:prstGeom prst="rect">
              <a:avLst/>
            </a:prstGeom>
          </p:spPr>
          <p:txBody>
            <a:bodyPr lIns="0" tIns="0" rIns="0" bIns="0" rtlCol="0" anchor="t">
              <a:spAutoFit/>
            </a:bodyPr>
            <a:lstStyle/>
            <a:p>
              <a:pPr algn="l">
                <a:lnSpc>
                  <a:spcPts val="1735"/>
                </a:lnSpc>
              </a:pPr>
              <a:r>
                <a:rPr lang="en-US" sz="1205" spc="30">
                  <a:solidFill>
                    <a:srgbClr val="000000">
                      <a:alpha val="0"/>
                    </a:srgbClr>
                  </a:solidFill>
                  <a:latin typeface="Helvetica"/>
                  <a:ea typeface="Helvetica"/>
                  <a:cs typeface="Helvetica"/>
                  <a:sym typeface="Helvetica"/>
                </a:rPr>
                <a:t>Scaling Group</a:t>
              </a:r>
            </a:p>
          </p:txBody>
        </p:sp>
        <p:sp>
          <p:nvSpPr>
            <p:cNvPr id="27" name="TextBox 27"/>
            <p:cNvSpPr txBox="1"/>
            <p:nvPr/>
          </p:nvSpPr>
          <p:spPr>
            <a:xfrm>
              <a:off x="12739329" y="1581044"/>
              <a:ext cx="1806438" cy="341428"/>
            </a:xfrm>
            <a:prstGeom prst="rect">
              <a:avLst/>
            </a:prstGeom>
          </p:spPr>
          <p:txBody>
            <a:bodyPr lIns="0" tIns="0" rIns="0" bIns="0" rtlCol="0" anchor="t">
              <a:spAutoFit/>
            </a:bodyPr>
            <a:lstStyle/>
            <a:p>
              <a:pPr algn="l">
                <a:lnSpc>
                  <a:spcPts val="1687"/>
                </a:lnSpc>
              </a:pPr>
              <a:r>
                <a:rPr lang="en-US" sz="1205" spc="30">
                  <a:solidFill>
                    <a:srgbClr val="000000">
                      <a:alpha val="0"/>
                    </a:srgbClr>
                  </a:solidFill>
                  <a:latin typeface="Helvetica"/>
                  <a:ea typeface="Helvetica"/>
                  <a:cs typeface="Helvetica"/>
                  <a:sym typeface="Helvetica"/>
                </a:rPr>
                <a:t>Availability Zone A</a:t>
              </a:r>
            </a:p>
          </p:txBody>
        </p:sp>
        <p:sp>
          <p:nvSpPr>
            <p:cNvPr id="28" name="TextBox 28"/>
            <p:cNvSpPr txBox="1"/>
            <p:nvPr/>
          </p:nvSpPr>
          <p:spPr>
            <a:xfrm>
              <a:off x="12831177" y="3307448"/>
              <a:ext cx="1668834" cy="646704"/>
            </a:xfrm>
            <a:prstGeom prst="rect">
              <a:avLst/>
            </a:prstGeom>
          </p:spPr>
          <p:txBody>
            <a:bodyPr lIns="0" tIns="0" rIns="0" bIns="0" rtlCol="0" anchor="t">
              <a:spAutoFit/>
            </a:bodyPr>
            <a:lstStyle/>
            <a:p>
              <a:pPr algn="ctr">
                <a:lnSpc>
                  <a:spcPts val="1750"/>
                </a:lnSpc>
              </a:pPr>
              <a:r>
                <a:rPr lang="en-US" sz="1205">
                  <a:solidFill>
                    <a:srgbClr val="000000">
                      <a:alpha val="0"/>
                    </a:srgbClr>
                  </a:solidFill>
                  <a:latin typeface="Helvetica"/>
                  <a:ea typeface="Helvetica"/>
                  <a:cs typeface="Helvetica"/>
                  <a:sym typeface="Helvetica"/>
                </a:rPr>
                <a:t>EC2 (Web/Checkout) </a:t>
              </a:r>
            </a:p>
          </p:txBody>
        </p:sp>
        <p:sp>
          <p:nvSpPr>
            <p:cNvPr id="29" name="TextBox 29"/>
            <p:cNvSpPr txBox="1"/>
            <p:nvPr/>
          </p:nvSpPr>
          <p:spPr>
            <a:xfrm>
              <a:off x="13556777" y="3899868"/>
              <a:ext cx="138844" cy="350953"/>
            </a:xfrm>
            <a:prstGeom prst="rect">
              <a:avLst/>
            </a:prstGeom>
          </p:spPr>
          <p:txBody>
            <a:bodyPr lIns="0" tIns="0" rIns="0" bIns="0" rtlCol="0" anchor="t">
              <a:spAutoFit/>
            </a:bodyPr>
            <a:lstStyle/>
            <a:p>
              <a:pPr algn="l">
                <a:lnSpc>
                  <a:spcPts val="1750"/>
                </a:lnSpc>
              </a:pPr>
              <a:r>
                <a:rPr lang="en-US" sz="1205">
                  <a:solidFill>
                    <a:srgbClr val="000000">
                      <a:alpha val="0"/>
                    </a:srgbClr>
                  </a:solidFill>
                  <a:latin typeface="Helvetica"/>
                  <a:ea typeface="Helvetica"/>
                  <a:cs typeface="Helvetica"/>
                  <a:sym typeface="Helvetica"/>
                </a:rPr>
                <a:t>A</a:t>
              </a:r>
            </a:p>
          </p:txBody>
        </p:sp>
        <p:sp>
          <p:nvSpPr>
            <p:cNvPr id="30" name="TextBox 30"/>
            <p:cNvSpPr txBox="1"/>
            <p:nvPr/>
          </p:nvSpPr>
          <p:spPr>
            <a:xfrm>
              <a:off x="13115907" y="4139916"/>
              <a:ext cx="974432" cy="194946"/>
            </a:xfrm>
            <a:prstGeom prst="rect">
              <a:avLst/>
            </a:prstGeom>
          </p:spPr>
          <p:txBody>
            <a:bodyPr lIns="0" tIns="0" rIns="0" bIns="0" rtlCol="0" anchor="t">
              <a:spAutoFit/>
            </a:bodyPr>
            <a:lstStyle/>
            <a:p>
              <a:pPr algn="l">
                <a:lnSpc>
                  <a:spcPts val="481"/>
                </a:lnSpc>
              </a:pPr>
              <a:r>
                <a:rPr lang="en-US" sz="963" b="1" i="1">
                  <a:solidFill>
                    <a:srgbClr val="000000">
                      <a:alpha val="0"/>
                    </a:srgbClr>
                  </a:solidFill>
                  <a:latin typeface="Helvetica Bold Italics"/>
                  <a:ea typeface="Helvetica Bold Italics"/>
                  <a:cs typeface="Helvetica Bold Italics"/>
                  <a:sym typeface="Helvetica Bold Italics"/>
                </a:rPr>
                <a:t>RRe ea ad d/ /WWr ri t i et e</a:t>
              </a:r>
            </a:p>
          </p:txBody>
        </p:sp>
        <p:sp>
          <p:nvSpPr>
            <p:cNvPr id="31" name="TextBox 31"/>
            <p:cNvSpPr txBox="1"/>
            <p:nvPr/>
          </p:nvSpPr>
          <p:spPr>
            <a:xfrm>
              <a:off x="15954012" y="3316973"/>
              <a:ext cx="1227626" cy="341428"/>
            </a:xfrm>
            <a:prstGeom prst="rect">
              <a:avLst/>
            </a:prstGeom>
          </p:spPr>
          <p:txBody>
            <a:bodyPr lIns="0" tIns="0" rIns="0" bIns="0" rtlCol="0" anchor="t">
              <a:spAutoFit/>
            </a:bodyPr>
            <a:lstStyle/>
            <a:p>
              <a:pPr algn="l">
                <a:lnSpc>
                  <a:spcPts val="1687"/>
                </a:lnSpc>
              </a:pPr>
              <a:r>
                <a:rPr lang="en-US" sz="1205" spc="7">
                  <a:solidFill>
                    <a:srgbClr val="000000">
                      <a:alpha val="0"/>
                    </a:srgbClr>
                  </a:solidFill>
                  <a:latin typeface="Helvetica"/>
                  <a:ea typeface="Helvetica"/>
                  <a:cs typeface="Helvetica"/>
                  <a:sym typeface="Helvetica"/>
                </a:rPr>
                <a:t>RDS Primary</a:t>
              </a:r>
            </a:p>
          </p:txBody>
        </p:sp>
        <p:sp>
          <p:nvSpPr>
            <p:cNvPr id="32" name="TextBox 32"/>
            <p:cNvSpPr txBox="1"/>
            <p:nvPr/>
          </p:nvSpPr>
          <p:spPr>
            <a:xfrm>
              <a:off x="17313364" y="1581044"/>
              <a:ext cx="1469386" cy="341428"/>
            </a:xfrm>
            <a:prstGeom prst="rect">
              <a:avLst/>
            </a:prstGeom>
          </p:spPr>
          <p:txBody>
            <a:bodyPr lIns="0" tIns="0" rIns="0" bIns="0" rtlCol="0" anchor="t">
              <a:spAutoFit/>
            </a:bodyPr>
            <a:lstStyle/>
            <a:p>
              <a:pPr algn="l">
                <a:lnSpc>
                  <a:spcPts val="1687"/>
                </a:lnSpc>
              </a:pPr>
              <a:r>
                <a:rPr lang="en-US" sz="1205" spc="26">
                  <a:solidFill>
                    <a:srgbClr val="000000">
                      <a:alpha val="0"/>
                    </a:srgbClr>
                  </a:solidFill>
                  <a:latin typeface="Helvetica"/>
                  <a:ea typeface="Helvetica"/>
                  <a:cs typeface="Helvetica"/>
                  <a:sym typeface="Helvetica"/>
                </a:rPr>
                <a:t>RDS (Multi-AZ)</a:t>
              </a:r>
            </a:p>
          </p:txBody>
        </p:sp>
        <p:sp>
          <p:nvSpPr>
            <p:cNvPr id="33" name="TextBox 33"/>
            <p:cNvSpPr txBox="1"/>
            <p:nvPr/>
          </p:nvSpPr>
          <p:spPr>
            <a:xfrm>
              <a:off x="18874781" y="3179201"/>
              <a:ext cx="1275035" cy="341428"/>
            </a:xfrm>
            <a:prstGeom prst="rect">
              <a:avLst/>
            </a:prstGeom>
          </p:spPr>
          <p:txBody>
            <a:bodyPr lIns="0" tIns="0" rIns="0" bIns="0" rtlCol="0" anchor="t">
              <a:spAutoFit/>
            </a:bodyPr>
            <a:lstStyle/>
            <a:p>
              <a:pPr algn="l">
                <a:lnSpc>
                  <a:spcPts val="1687"/>
                </a:lnSpc>
              </a:pPr>
              <a:r>
                <a:rPr lang="en-US" sz="1205" spc="8">
                  <a:solidFill>
                    <a:srgbClr val="000000">
                      <a:alpha val="0"/>
                    </a:srgbClr>
                  </a:solidFill>
                  <a:latin typeface="Helvetica"/>
                  <a:ea typeface="Helvetica"/>
                  <a:cs typeface="Helvetica"/>
                  <a:sym typeface="Helvetica"/>
                </a:rPr>
                <a:t>RDS Standby</a:t>
              </a:r>
            </a:p>
          </p:txBody>
        </p:sp>
        <p:sp>
          <p:nvSpPr>
            <p:cNvPr id="34" name="TextBox 34"/>
            <p:cNvSpPr txBox="1"/>
            <p:nvPr/>
          </p:nvSpPr>
          <p:spPr>
            <a:xfrm>
              <a:off x="0" y="-66675"/>
              <a:ext cx="10056340" cy="612712"/>
            </a:xfrm>
            <a:prstGeom prst="rect">
              <a:avLst/>
            </a:prstGeom>
          </p:spPr>
          <p:txBody>
            <a:bodyPr lIns="0" tIns="0" rIns="0" bIns="0" rtlCol="0" anchor="t">
              <a:spAutoFit/>
            </a:bodyPr>
            <a:lstStyle/>
            <a:p>
              <a:pPr algn="l">
                <a:lnSpc>
                  <a:spcPts val="3037"/>
                </a:lnSpc>
              </a:pPr>
              <a:r>
                <a:rPr lang="en-US" sz="2169" spc="67">
                  <a:solidFill>
                    <a:srgbClr val="000000">
                      <a:alpha val="0"/>
                    </a:srgbClr>
                  </a:solidFill>
                  <a:latin typeface="Helvetica"/>
                  <a:ea typeface="Helvetica"/>
                  <a:cs typeface="Helvetica"/>
                  <a:sym typeface="Helvetica"/>
                </a:rPr>
                <a:t>AWS E-Commerce "DealDrop Event" Architecture (2025)</a:t>
              </a:r>
            </a:p>
          </p:txBody>
        </p:sp>
        <p:sp>
          <p:nvSpPr>
            <p:cNvPr id="35" name="TextBox 35"/>
            <p:cNvSpPr txBox="1"/>
            <p:nvPr/>
          </p:nvSpPr>
          <p:spPr>
            <a:xfrm>
              <a:off x="6106979" y="2446850"/>
              <a:ext cx="358177" cy="280671"/>
            </a:xfrm>
            <a:prstGeom prst="rect">
              <a:avLst/>
            </a:prstGeom>
          </p:spPr>
          <p:txBody>
            <a:bodyPr lIns="0" tIns="0" rIns="0" bIns="0" rtlCol="0" anchor="t">
              <a:spAutoFit/>
            </a:bodyPr>
            <a:lstStyle/>
            <a:p>
              <a:pPr algn="l">
                <a:lnSpc>
                  <a:spcPts val="1349"/>
                </a:lnSpc>
              </a:pPr>
              <a:r>
                <a:rPr lang="en-US" sz="963" b="1" i="1" spc="19">
                  <a:solidFill>
                    <a:srgbClr val="000000">
                      <a:alpha val="0"/>
                    </a:srgbClr>
                  </a:solidFill>
                  <a:latin typeface="Helvetica Bold Italics"/>
                  <a:ea typeface="Helvetica Bold Italics"/>
                  <a:cs typeface="Helvetica Bold Italics"/>
                  <a:sym typeface="Helvetica Bold Italics"/>
                </a:rPr>
                <a:t>DNS</a:t>
              </a:r>
            </a:p>
          </p:txBody>
        </p:sp>
        <p:sp>
          <p:nvSpPr>
            <p:cNvPr id="36" name="TextBox 36"/>
            <p:cNvSpPr txBox="1"/>
            <p:nvPr/>
          </p:nvSpPr>
          <p:spPr>
            <a:xfrm>
              <a:off x="5892973" y="5592647"/>
              <a:ext cx="786220" cy="280671"/>
            </a:xfrm>
            <a:prstGeom prst="rect">
              <a:avLst/>
            </a:prstGeom>
          </p:spPr>
          <p:txBody>
            <a:bodyPr lIns="0" tIns="0" rIns="0" bIns="0" rtlCol="0" anchor="t">
              <a:spAutoFit/>
            </a:bodyPr>
            <a:lstStyle/>
            <a:p>
              <a:pPr algn="l">
                <a:lnSpc>
                  <a:spcPts val="1349"/>
                </a:lnSpc>
              </a:pPr>
              <a:r>
                <a:rPr lang="en-US" sz="963" b="1" i="1" spc="47">
                  <a:solidFill>
                    <a:srgbClr val="000000">
                      <a:alpha val="0"/>
                    </a:srgbClr>
                  </a:solidFill>
                  <a:latin typeface="Helvetica Bold Italics"/>
                  <a:ea typeface="Helvetica Bold Italics"/>
                  <a:cs typeface="Helvetica Bold Italics"/>
                  <a:sym typeface="Helvetica Bold Italics"/>
                </a:rPr>
                <a:t>Invalidate</a:t>
              </a:r>
            </a:p>
          </p:txBody>
        </p:sp>
        <p:sp>
          <p:nvSpPr>
            <p:cNvPr id="37" name="TextBox 37"/>
            <p:cNvSpPr txBox="1"/>
            <p:nvPr/>
          </p:nvSpPr>
          <p:spPr>
            <a:xfrm>
              <a:off x="8878036" y="2328366"/>
              <a:ext cx="762094" cy="517654"/>
            </a:xfrm>
            <a:prstGeom prst="rect">
              <a:avLst/>
            </a:prstGeom>
          </p:spPr>
          <p:txBody>
            <a:bodyPr lIns="0" tIns="0" rIns="0" bIns="0" rtlCol="0" anchor="t">
              <a:spAutoFit/>
            </a:bodyPr>
            <a:lstStyle/>
            <a:p>
              <a:pPr algn="l">
                <a:lnSpc>
                  <a:spcPts val="1399"/>
                </a:lnSpc>
              </a:pPr>
              <a:r>
                <a:rPr lang="en-US" sz="963" b="1" i="1" spc="56">
                  <a:solidFill>
                    <a:srgbClr val="000000">
                      <a:alpha val="0"/>
                    </a:srgbClr>
                  </a:solidFill>
                  <a:latin typeface="Helvetica Bold Italics"/>
                  <a:ea typeface="Helvetica Bold Italics"/>
                  <a:cs typeface="Helvetica Bold Italics"/>
                  <a:sym typeface="Helvetica Bold Italics"/>
                </a:rPr>
                <a:t>Dynamic requests</a:t>
              </a:r>
            </a:p>
          </p:txBody>
        </p:sp>
        <p:sp>
          <p:nvSpPr>
            <p:cNvPr id="38" name="TextBox 38"/>
            <p:cNvSpPr txBox="1"/>
            <p:nvPr/>
          </p:nvSpPr>
          <p:spPr>
            <a:xfrm>
              <a:off x="8906509" y="5584381"/>
              <a:ext cx="1255793" cy="280671"/>
            </a:xfrm>
            <a:prstGeom prst="rect">
              <a:avLst/>
            </a:prstGeom>
          </p:spPr>
          <p:txBody>
            <a:bodyPr lIns="0" tIns="0" rIns="0" bIns="0" rtlCol="0" anchor="t">
              <a:spAutoFit/>
            </a:bodyPr>
            <a:lstStyle/>
            <a:p>
              <a:pPr algn="l">
                <a:lnSpc>
                  <a:spcPts val="1349"/>
                </a:lnSpc>
              </a:pPr>
              <a:r>
                <a:rPr lang="en-US" sz="963" b="1" i="1" spc="69">
                  <a:solidFill>
                    <a:srgbClr val="000000">
                      <a:alpha val="0"/>
                    </a:srgbClr>
                  </a:solidFill>
                  <a:latin typeface="Helvetica Bold Italics"/>
                  <a:ea typeface="Helvetica Bold Italics"/>
                  <a:cs typeface="Helvetica Bold Italics"/>
                  <a:sym typeface="Helvetica Bold Italics"/>
                </a:rPr>
                <a:t>Alarms/Metrics</a:t>
              </a:r>
            </a:p>
          </p:txBody>
        </p:sp>
        <p:sp>
          <p:nvSpPr>
            <p:cNvPr id="39" name="TextBox 39"/>
            <p:cNvSpPr txBox="1"/>
            <p:nvPr/>
          </p:nvSpPr>
          <p:spPr>
            <a:xfrm>
              <a:off x="10066550" y="4101034"/>
              <a:ext cx="884114" cy="280671"/>
            </a:xfrm>
            <a:prstGeom prst="rect">
              <a:avLst/>
            </a:prstGeom>
          </p:spPr>
          <p:txBody>
            <a:bodyPr lIns="0" tIns="0" rIns="0" bIns="0" rtlCol="0" anchor="t">
              <a:spAutoFit/>
            </a:bodyPr>
            <a:lstStyle/>
            <a:p>
              <a:pPr algn="l">
                <a:lnSpc>
                  <a:spcPts val="1349"/>
                </a:lnSpc>
              </a:pPr>
              <a:r>
                <a:rPr lang="en-US" sz="963" b="1" i="1" spc="56">
                  <a:solidFill>
                    <a:srgbClr val="000000">
                      <a:alpha val="0"/>
                    </a:srgbClr>
                  </a:solidFill>
                  <a:latin typeface="Helvetica Bold Italics"/>
                  <a:ea typeface="Helvetica Bold Italics"/>
                  <a:cs typeface="Helvetica Bold Italics"/>
                  <a:sym typeface="Helvetica Bold Italics"/>
                </a:rPr>
                <a:t>Distributes</a:t>
              </a:r>
            </a:p>
          </p:txBody>
        </p:sp>
        <p:sp>
          <p:nvSpPr>
            <p:cNvPr id="40" name="TextBox 40"/>
            <p:cNvSpPr txBox="1"/>
            <p:nvPr/>
          </p:nvSpPr>
          <p:spPr>
            <a:xfrm>
              <a:off x="11710631" y="5523761"/>
              <a:ext cx="908852" cy="280671"/>
            </a:xfrm>
            <a:prstGeom prst="rect">
              <a:avLst/>
            </a:prstGeom>
          </p:spPr>
          <p:txBody>
            <a:bodyPr lIns="0" tIns="0" rIns="0" bIns="0" rtlCol="0" anchor="t">
              <a:spAutoFit/>
            </a:bodyPr>
            <a:lstStyle/>
            <a:p>
              <a:pPr algn="l">
                <a:lnSpc>
                  <a:spcPts val="1349"/>
                </a:lnSpc>
              </a:pPr>
              <a:r>
                <a:rPr lang="en-US" sz="963" b="1" i="1" spc="49">
                  <a:solidFill>
                    <a:srgbClr val="000000">
                      <a:alpha val="0"/>
                    </a:srgbClr>
                  </a:solidFill>
                  <a:latin typeface="Helvetica Bold Italics"/>
                  <a:ea typeface="Helvetica Bold Italics"/>
                  <a:cs typeface="Helvetica Bold Italics"/>
                  <a:sym typeface="Helvetica Bold Italics"/>
                </a:rPr>
                <a:t>Read/Write</a:t>
              </a:r>
            </a:p>
          </p:txBody>
        </p:sp>
        <p:sp>
          <p:nvSpPr>
            <p:cNvPr id="41" name="TextBox 41"/>
            <p:cNvSpPr txBox="1"/>
            <p:nvPr/>
          </p:nvSpPr>
          <p:spPr>
            <a:xfrm>
              <a:off x="11719816" y="2584622"/>
              <a:ext cx="884114" cy="280671"/>
            </a:xfrm>
            <a:prstGeom prst="rect">
              <a:avLst/>
            </a:prstGeom>
          </p:spPr>
          <p:txBody>
            <a:bodyPr lIns="0" tIns="0" rIns="0" bIns="0" rtlCol="0" anchor="t">
              <a:spAutoFit/>
            </a:bodyPr>
            <a:lstStyle/>
            <a:p>
              <a:pPr algn="l">
                <a:lnSpc>
                  <a:spcPts val="1349"/>
                </a:lnSpc>
              </a:pPr>
              <a:r>
                <a:rPr lang="en-US" sz="963" b="1" i="1" spc="56">
                  <a:solidFill>
                    <a:srgbClr val="000000">
                      <a:alpha val="0"/>
                    </a:srgbClr>
                  </a:solidFill>
                  <a:latin typeface="Helvetica Bold Italics"/>
                  <a:ea typeface="Helvetica Bold Italics"/>
                  <a:cs typeface="Helvetica Bold Italics"/>
                  <a:sym typeface="Helvetica Bold Italics"/>
                </a:rPr>
                <a:t>Distributes</a:t>
              </a:r>
            </a:p>
          </p:txBody>
        </p:sp>
        <p:sp>
          <p:nvSpPr>
            <p:cNvPr id="42" name="TextBox 42"/>
            <p:cNvSpPr txBox="1"/>
            <p:nvPr/>
          </p:nvSpPr>
          <p:spPr>
            <a:xfrm>
              <a:off x="12840362" y="8132246"/>
              <a:ext cx="1255793" cy="280671"/>
            </a:xfrm>
            <a:prstGeom prst="rect">
              <a:avLst/>
            </a:prstGeom>
          </p:spPr>
          <p:txBody>
            <a:bodyPr lIns="0" tIns="0" rIns="0" bIns="0" rtlCol="0" anchor="t">
              <a:spAutoFit/>
            </a:bodyPr>
            <a:lstStyle/>
            <a:p>
              <a:pPr algn="l">
                <a:lnSpc>
                  <a:spcPts val="1349"/>
                </a:lnSpc>
              </a:pPr>
              <a:r>
                <a:rPr lang="en-US" sz="963" b="1" i="1" spc="69">
                  <a:solidFill>
                    <a:srgbClr val="000000">
                      <a:alpha val="0"/>
                    </a:srgbClr>
                  </a:solidFill>
                  <a:latin typeface="Helvetica Bold Italics"/>
                  <a:ea typeface="Helvetica Bold Italics"/>
                  <a:cs typeface="Helvetica Bold Italics"/>
                  <a:sym typeface="Helvetica Bold Italics"/>
                </a:rPr>
                <a:t>Alarms/Metrics</a:t>
              </a:r>
            </a:p>
          </p:txBody>
        </p:sp>
        <p:sp>
          <p:nvSpPr>
            <p:cNvPr id="43" name="TextBox 43"/>
            <p:cNvSpPr txBox="1"/>
            <p:nvPr/>
          </p:nvSpPr>
          <p:spPr>
            <a:xfrm>
              <a:off x="12840362" y="8793553"/>
              <a:ext cx="1255793" cy="280671"/>
            </a:xfrm>
            <a:prstGeom prst="rect">
              <a:avLst/>
            </a:prstGeom>
          </p:spPr>
          <p:txBody>
            <a:bodyPr lIns="0" tIns="0" rIns="0" bIns="0" rtlCol="0" anchor="t">
              <a:spAutoFit/>
            </a:bodyPr>
            <a:lstStyle/>
            <a:p>
              <a:pPr algn="l">
                <a:lnSpc>
                  <a:spcPts val="1349"/>
                </a:lnSpc>
              </a:pPr>
              <a:r>
                <a:rPr lang="en-US" sz="963" b="1" i="1" spc="69">
                  <a:solidFill>
                    <a:srgbClr val="000000">
                      <a:alpha val="0"/>
                    </a:srgbClr>
                  </a:solidFill>
                  <a:latin typeface="Helvetica Bold Italics"/>
                  <a:ea typeface="Helvetica Bold Italics"/>
                  <a:cs typeface="Helvetica Bold Italics"/>
                  <a:sym typeface="Helvetica Bold Italics"/>
                </a:rPr>
                <a:t>Alarms/Metrics</a:t>
              </a:r>
            </a:p>
          </p:txBody>
        </p:sp>
        <p:sp>
          <p:nvSpPr>
            <p:cNvPr id="44" name="TextBox 44"/>
            <p:cNvSpPr txBox="1"/>
            <p:nvPr/>
          </p:nvSpPr>
          <p:spPr>
            <a:xfrm>
              <a:off x="14649770" y="2584622"/>
              <a:ext cx="908852" cy="280671"/>
            </a:xfrm>
            <a:prstGeom prst="rect">
              <a:avLst/>
            </a:prstGeom>
          </p:spPr>
          <p:txBody>
            <a:bodyPr lIns="0" tIns="0" rIns="0" bIns="0" rtlCol="0" anchor="t">
              <a:spAutoFit/>
            </a:bodyPr>
            <a:lstStyle/>
            <a:p>
              <a:pPr algn="l">
                <a:lnSpc>
                  <a:spcPts val="1349"/>
                </a:lnSpc>
              </a:pPr>
              <a:r>
                <a:rPr lang="en-US" sz="963" b="1" i="1" spc="49">
                  <a:solidFill>
                    <a:srgbClr val="000000">
                      <a:alpha val="0"/>
                    </a:srgbClr>
                  </a:solidFill>
                  <a:latin typeface="Helvetica Bold Italics"/>
                  <a:ea typeface="Helvetica Bold Italics"/>
                  <a:cs typeface="Helvetica Bold Italics"/>
                  <a:sym typeface="Helvetica Bold Italics"/>
                </a:rPr>
                <a:t>Read/Write</a:t>
              </a:r>
            </a:p>
          </p:txBody>
        </p:sp>
        <p:sp>
          <p:nvSpPr>
            <p:cNvPr id="45" name="TextBox 45"/>
            <p:cNvSpPr txBox="1"/>
            <p:nvPr/>
          </p:nvSpPr>
          <p:spPr>
            <a:xfrm>
              <a:off x="15981567" y="8352682"/>
              <a:ext cx="1255793" cy="280671"/>
            </a:xfrm>
            <a:prstGeom prst="rect">
              <a:avLst/>
            </a:prstGeom>
          </p:spPr>
          <p:txBody>
            <a:bodyPr lIns="0" tIns="0" rIns="0" bIns="0" rtlCol="0" anchor="t">
              <a:spAutoFit/>
            </a:bodyPr>
            <a:lstStyle/>
            <a:p>
              <a:pPr algn="l">
                <a:lnSpc>
                  <a:spcPts val="1349"/>
                </a:lnSpc>
              </a:pPr>
              <a:r>
                <a:rPr lang="en-US" sz="963" b="1" i="1" spc="69">
                  <a:solidFill>
                    <a:srgbClr val="000000">
                      <a:alpha val="0"/>
                    </a:srgbClr>
                  </a:solidFill>
                  <a:latin typeface="Helvetica Bold Italics"/>
                  <a:ea typeface="Helvetica Bold Italics"/>
                  <a:cs typeface="Helvetica Bold Italics"/>
                  <a:sym typeface="Helvetica Bold Italics"/>
                </a:rPr>
                <a:t>Alarms/Metrics</a:t>
              </a:r>
            </a:p>
          </p:txBody>
        </p:sp>
        <p:sp>
          <p:nvSpPr>
            <p:cNvPr id="46" name="TextBox 46"/>
            <p:cNvSpPr txBox="1"/>
            <p:nvPr/>
          </p:nvSpPr>
          <p:spPr>
            <a:xfrm>
              <a:off x="17745050" y="8573117"/>
              <a:ext cx="1255793" cy="280671"/>
            </a:xfrm>
            <a:prstGeom prst="rect">
              <a:avLst/>
            </a:prstGeom>
          </p:spPr>
          <p:txBody>
            <a:bodyPr lIns="0" tIns="0" rIns="0" bIns="0" rtlCol="0" anchor="t">
              <a:spAutoFit/>
            </a:bodyPr>
            <a:lstStyle/>
            <a:p>
              <a:pPr algn="l">
                <a:lnSpc>
                  <a:spcPts val="1349"/>
                </a:lnSpc>
              </a:pPr>
              <a:r>
                <a:rPr lang="en-US" sz="963" b="1" i="1" spc="69">
                  <a:solidFill>
                    <a:srgbClr val="000000">
                      <a:alpha val="0"/>
                    </a:srgbClr>
                  </a:solidFill>
                  <a:latin typeface="Helvetica Bold Italics"/>
                  <a:ea typeface="Helvetica Bold Italics"/>
                  <a:cs typeface="Helvetica Bold Italics"/>
                  <a:sym typeface="Helvetica Bold Italics"/>
                </a:rPr>
                <a:t>Alarms/Metrics</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237</TotalTime>
  <Words>1265</Words>
  <Application>Microsoft Office PowerPoint</Application>
  <PresentationFormat>Custom</PresentationFormat>
  <Paragraphs>136</Paragraphs>
  <Slides>9</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9</vt:i4>
      </vt:variant>
    </vt:vector>
  </HeadingPairs>
  <TitlesOfParts>
    <vt:vector size="20" baseType="lpstr">
      <vt:lpstr>Courier New</vt:lpstr>
      <vt:lpstr>Calibri</vt:lpstr>
      <vt:lpstr>Montserrat Bold</vt:lpstr>
      <vt:lpstr>Arial</vt:lpstr>
      <vt:lpstr>Arimo</vt:lpstr>
      <vt:lpstr>Times New Roman</vt:lpstr>
      <vt:lpstr>Montserrat</vt:lpstr>
      <vt:lpstr>Helvetica Bold Italics</vt:lpstr>
      <vt:lpstr>Arimo Bold</vt:lpstr>
      <vt:lpstr>Helvetica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DealDrop scenario</dc:title>
  <cp:lastModifiedBy>Mervyn Jean-Baptiste</cp:lastModifiedBy>
  <cp:revision>2</cp:revision>
  <dcterms:created xsi:type="dcterms:W3CDTF">2006-08-16T00:00:00Z</dcterms:created>
  <dcterms:modified xsi:type="dcterms:W3CDTF">2026-02-19T01:12:29Z</dcterms:modified>
  <dc:identifier>DAHBsQzwVnE</dc:identifier>
</cp:coreProperties>
</file>